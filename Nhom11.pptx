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Montserrat" pitchFamily="2" charset="0"/>
      <p:regular r:id="rId22"/>
      <p:bold r:id="rId23"/>
      <p:italic r:id="rId24"/>
      <p:boldItalic r:id="rId25"/>
    </p:embeddedFont>
    <p:embeddedFont>
      <p:font typeface="Montserrat Bold" pitchFamily="2" charset="0"/>
      <p:regular r:id="rId26"/>
      <p:bold r:id="rId27"/>
    </p:embeddedFont>
    <p:embeddedFont>
      <p:font typeface="Montserrat Ultra-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rawsql.app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23.sv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6.svg"/><Relationship Id="rId4" Type="http://schemas.openxmlformats.org/officeDocument/2006/relationships/image" Target="../media/image37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31315">
            <a:off x="3598501" y="4342738"/>
            <a:ext cx="11275272" cy="2242763"/>
            <a:chOff x="0" y="0"/>
            <a:chExt cx="2524047" cy="5020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24047" cy="502058"/>
            </a:xfrm>
            <a:custGeom>
              <a:avLst/>
              <a:gdLst/>
              <a:ahLst/>
              <a:cxnLst/>
              <a:rect l="l" t="t" r="r" b="b"/>
              <a:pathLst>
                <a:path w="2524047" h="502058">
                  <a:moveTo>
                    <a:pt x="9613" y="0"/>
                  </a:moveTo>
                  <a:lnTo>
                    <a:pt x="2514434" y="0"/>
                  </a:lnTo>
                  <a:cubicBezTo>
                    <a:pt x="2519743" y="0"/>
                    <a:pt x="2524047" y="4304"/>
                    <a:pt x="2524047" y="9613"/>
                  </a:cubicBezTo>
                  <a:lnTo>
                    <a:pt x="2524047" y="492445"/>
                  </a:lnTo>
                  <a:cubicBezTo>
                    <a:pt x="2524047" y="497754"/>
                    <a:pt x="2519743" y="502058"/>
                    <a:pt x="2514434" y="502058"/>
                  </a:cubicBezTo>
                  <a:lnTo>
                    <a:pt x="9613" y="502058"/>
                  </a:lnTo>
                  <a:cubicBezTo>
                    <a:pt x="4304" y="502058"/>
                    <a:pt x="0" y="497754"/>
                    <a:pt x="0" y="492445"/>
                  </a:cubicBezTo>
                  <a:lnTo>
                    <a:pt x="0" y="9613"/>
                  </a:lnTo>
                  <a:cubicBezTo>
                    <a:pt x="0" y="4304"/>
                    <a:pt x="4304" y="0"/>
                    <a:pt x="9613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24047" cy="540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31315">
            <a:off x="3412417" y="4170234"/>
            <a:ext cx="11284697" cy="2239580"/>
            <a:chOff x="0" y="0"/>
            <a:chExt cx="2526157" cy="5013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6157" cy="501345"/>
            </a:xfrm>
            <a:custGeom>
              <a:avLst/>
              <a:gdLst/>
              <a:ahLst/>
              <a:cxnLst/>
              <a:rect l="l" t="t" r="r" b="b"/>
              <a:pathLst>
                <a:path w="2526157" h="501345">
                  <a:moveTo>
                    <a:pt x="9605" y="0"/>
                  </a:moveTo>
                  <a:lnTo>
                    <a:pt x="2516552" y="0"/>
                  </a:lnTo>
                  <a:cubicBezTo>
                    <a:pt x="2521857" y="0"/>
                    <a:pt x="2526157" y="4300"/>
                    <a:pt x="2526157" y="9605"/>
                  </a:cubicBezTo>
                  <a:lnTo>
                    <a:pt x="2526157" y="491740"/>
                  </a:lnTo>
                  <a:cubicBezTo>
                    <a:pt x="2526157" y="497045"/>
                    <a:pt x="2521857" y="501345"/>
                    <a:pt x="2516552" y="501345"/>
                  </a:cubicBezTo>
                  <a:lnTo>
                    <a:pt x="9605" y="501345"/>
                  </a:lnTo>
                  <a:cubicBezTo>
                    <a:pt x="4300" y="501345"/>
                    <a:pt x="0" y="497045"/>
                    <a:pt x="0" y="491740"/>
                  </a:cubicBezTo>
                  <a:lnTo>
                    <a:pt x="0" y="9605"/>
                  </a:lnTo>
                  <a:cubicBezTo>
                    <a:pt x="0" y="4300"/>
                    <a:pt x="4300" y="0"/>
                    <a:pt x="9605" y="0"/>
                  </a:cubicBezTo>
                  <a:close/>
                </a:path>
              </a:pathLst>
            </a:custGeom>
            <a:solidFill>
              <a:srgbClr val="D4E84E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2526157" cy="606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699"/>
                </a:lnSpc>
              </a:pPr>
              <a:r>
                <a:rPr lang="en-US" sz="5499" b="1">
                  <a:solidFill>
                    <a:srgbClr val="00010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HỆ THỐNG HỌC TIẾNG ANH TRỰC TUYẾN</a:t>
              </a:r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3710305" y="2791757"/>
            <a:ext cx="4909973" cy="4365412"/>
          </a:xfrm>
          <a:custGeom>
            <a:avLst/>
            <a:gdLst/>
            <a:ahLst/>
            <a:cxnLst/>
            <a:rect l="l" t="t" r="r" b="b"/>
            <a:pathLst>
              <a:path w="4909973" h="4365412">
                <a:moveTo>
                  <a:pt x="4909973" y="0"/>
                </a:moveTo>
                <a:lnTo>
                  <a:pt x="0" y="0"/>
                </a:lnTo>
                <a:lnTo>
                  <a:pt x="0" y="4365413"/>
                </a:lnTo>
                <a:lnTo>
                  <a:pt x="4909973" y="4365413"/>
                </a:lnTo>
                <a:lnTo>
                  <a:pt x="4909973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flipH="1">
            <a:off x="13557801" y="2960794"/>
            <a:ext cx="4909973" cy="4365412"/>
          </a:xfrm>
          <a:custGeom>
            <a:avLst/>
            <a:gdLst/>
            <a:ahLst/>
            <a:cxnLst/>
            <a:rect l="l" t="t" r="r" b="b"/>
            <a:pathLst>
              <a:path w="4909973" h="4365412">
                <a:moveTo>
                  <a:pt x="4909973" y="0"/>
                </a:moveTo>
                <a:lnTo>
                  <a:pt x="0" y="0"/>
                </a:lnTo>
                <a:lnTo>
                  <a:pt x="0" y="4365412"/>
                </a:lnTo>
                <a:lnTo>
                  <a:pt x="4909973" y="4365412"/>
                </a:lnTo>
                <a:lnTo>
                  <a:pt x="4909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875802" y="5515965"/>
            <a:ext cx="5367974" cy="4352939"/>
          </a:xfrm>
          <a:custGeom>
            <a:avLst/>
            <a:gdLst/>
            <a:ahLst/>
            <a:cxnLst/>
            <a:rect l="l" t="t" r="r" b="b"/>
            <a:pathLst>
              <a:path w="5367974" h="4352939">
                <a:moveTo>
                  <a:pt x="0" y="0"/>
                </a:moveTo>
                <a:lnTo>
                  <a:pt x="5367974" y="0"/>
                </a:lnTo>
                <a:lnTo>
                  <a:pt x="5367974" y="4352939"/>
                </a:lnTo>
                <a:lnTo>
                  <a:pt x="0" y="43529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689782" y="5702797"/>
            <a:ext cx="5367974" cy="4352939"/>
          </a:xfrm>
          <a:custGeom>
            <a:avLst/>
            <a:gdLst/>
            <a:ahLst/>
            <a:cxnLst/>
            <a:rect l="l" t="t" r="r" b="b"/>
            <a:pathLst>
              <a:path w="5367974" h="4352939">
                <a:moveTo>
                  <a:pt x="0" y="0"/>
                </a:moveTo>
                <a:lnTo>
                  <a:pt x="5367974" y="0"/>
                </a:lnTo>
                <a:lnTo>
                  <a:pt x="5367974" y="4352938"/>
                </a:lnTo>
                <a:lnTo>
                  <a:pt x="0" y="4352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-1120993">
            <a:off x="14857342" y="6796323"/>
            <a:ext cx="3256091" cy="3700103"/>
          </a:xfrm>
          <a:custGeom>
            <a:avLst/>
            <a:gdLst/>
            <a:ahLst/>
            <a:cxnLst/>
            <a:rect l="l" t="t" r="r" b="b"/>
            <a:pathLst>
              <a:path w="3256091" h="3700103">
                <a:moveTo>
                  <a:pt x="0" y="0"/>
                </a:moveTo>
                <a:lnTo>
                  <a:pt x="3256090" y="0"/>
                </a:lnTo>
                <a:lnTo>
                  <a:pt x="3256090" y="3700103"/>
                </a:lnTo>
                <a:lnTo>
                  <a:pt x="0" y="37001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9583270">
            <a:off x="195734" y="-199769"/>
            <a:ext cx="3312088" cy="3763737"/>
          </a:xfrm>
          <a:custGeom>
            <a:avLst/>
            <a:gdLst/>
            <a:ahLst/>
            <a:cxnLst/>
            <a:rect l="l" t="t" r="r" b="b"/>
            <a:pathLst>
              <a:path w="3312088" h="3763737">
                <a:moveTo>
                  <a:pt x="0" y="0"/>
                </a:moveTo>
                <a:lnTo>
                  <a:pt x="3312088" y="0"/>
                </a:lnTo>
                <a:lnTo>
                  <a:pt x="3312088" y="3763737"/>
                </a:lnTo>
                <a:lnTo>
                  <a:pt x="0" y="3763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1069721">
            <a:off x="16730745" y="2181031"/>
            <a:ext cx="1057111" cy="1221452"/>
          </a:xfrm>
          <a:custGeom>
            <a:avLst/>
            <a:gdLst/>
            <a:ahLst/>
            <a:cxnLst/>
            <a:rect l="l" t="t" r="r" b="b"/>
            <a:pathLst>
              <a:path w="1057111" h="1221452">
                <a:moveTo>
                  <a:pt x="0" y="0"/>
                </a:moveTo>
                <a:lnTo>
                  <a:pt x="1057110" y="0"/>
                </a:lnTo>
                <a:lnTo>
                  <a:pt x="1057110" y="1221452"/>
                </a:lnTo>
                <a:lnTo>
                  <a:pt x="0" y="1221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1069721">
            <a:off x="1728016" y="5026760"/>
            <a:ext cx="846769" cy="978410"/>
          </a:xfrm>
          <a:custGeom>
            <a:avLst/>
            <a:gdLst/>
            <a:ahLst/>
            <a:cxnLst/>
            <a:rect l="l" t="t" r="r" b="b"/>
            <a:pathLst>
              <a:path w="846769" h="978410">
                <a:moveTo>
                  <a:pt x="0" y="0"/>
                </a:moveTo>
                <a:lnTo>
                  <a:pt x="846770" y="0"/>
                </a:lnTo>
                <a:lnTo>
                  <a:pt x="846770" y="978410"/>
                </a:lnTo>
                <a:lnTo>
                  <a:pt x="0" y="9784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088064" y="2239133"/>
            <a:ext cx="7932802" cy="185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53"/>
              </a:lnSpc>
            </a:pPr>
            <a:r>
              <a:rPr lang="en-US" sz="10824" b="1" spc="-400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ĐỀ TÀI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70481" y="8571293"/>
            <a:ext cx="4547038" cy="6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spc="-15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Nhóm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E8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786240" y="2085975"/>
          <a:ext cx="13214338" cy="7086600"/>
        </p:xfrm>
        <a:graphic>
          <a:graphicData uri="http://schemas.openxmlformats.org/drawingml/2006/table">
            <a:tbl>
              <a:tblPr/>
              <a:tblGrid>
                <a:gridCol w="4891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3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2143">
                <a:tc>
                  <a:txBody>
                    <a:bodyPr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MSSV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HỌ VÀ TÊN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684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064206000321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Dương Minh Nhân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684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072306003845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Lâm Thị Yến Nhi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684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060306004265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Võ Trần Gia Phụng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1037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036205015677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Nguyễn Tuấn Anh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4684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067306001136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Nguyễn Ngọc Tú Trân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4684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056206000232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Trương Thái Tiến Đạt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5317245" y="545782"/>
            <a:ext cx="8246355" cy="844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 spc="-188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DANH </a:t>
            </a:r>
            <a:r>
              <a:rPr lang="en-US" sz="5099" b="1" spc="-188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SÁCH</a:t>
            </a:r>
            <a:r>
              <a:rPr lang="en-US" sz="5099" b="1" spc="-188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THÀNH VIÊN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E8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6114" y="3171102"/>
            <a:ext cx="3557626" cy="944580"/>
            <a:chOff x="0" y="0"/>
            <a:chExt cx="796399" cy="2114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96399" cy="211451"/>
            </a:xfrm>
            <a:custGeom>
              <a:avLst/>
              <a:gdLst/>
              <a:ahLst/>
              <a:cxnLst/>
              <a:rect l="l" t="t" r="r" b="b"/>
              <a:pathLst>
                <a:path w="796399" h="211451">
                  <a:moveTo>
                    <a:pt x="30466" y="0"/>
                  </a:moveTo>
                  <a:lnTo>
                    <a:pt x="765933" y="0"/>
                  </a:lnTo>
                  <a:cubicBezTo>
                    <a:pt x="782759" y="0"/>
                    <a:pt x="796399" y="13640"/>
                    <a:pt x="796399" y="30466"/>
                  </a:cubicBezTo>
                  <a:lnTo>
                    <a:pt x="796399" y="180985"/>
                  </a:lnTo>
                  <a:cubicBezTo>
                    <a:pt x="796399" y="197811"/>
                    <a:pt x="782759" y="211451"/>
                    <a:pt x="765933" y="211451"/>
                  </a:cubicBezTo>
                  <a:lnTo>
                    <a:pt x="30466" y="211451"/>
                  </a:lnTo>
                  <a:cubicBezTo>
                    <a:pt x="13640" y="211451"/>
                    <a:pt x="0" y="197811"/>
                    <a:pt x="0" y="180985"/>
                  </a:cubicBezTo>
                  <a:lnTo>
                    <a:pt x="0" y="30466"/>
                  </a:lnTo>
                  <a:cubicBezTo>
                    <a:pt x="0" y="13640"/>
                    <a:pt x="13640" y="0"/>
                    <a:pt x="30466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96399" cy="249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LÝ DO CHỌN ĐỀ TÀI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49289" y="3171102"/>
            <a:ext cx="3557626" cy="944580"/>
            <a:chOff x="0" y="0"/>
            <a:chExt cx="796399" cy="2114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6399" cy="211451"/>
            </a:xfrm>
            <a:custGeom>
              <a:avLst/>
              <a:gdLst/>
              <a:ahLst/>
              <a:cxnLst/>
              <a:rect l="l" t="t" r="r" b="b"/>
              <a:pathLst>
                <a:path w="796399" h="211451">
                  <a:moveTo>
                    <a:pt x="30466" y="0"/>
                  </a:moveTo>
                  <a:lnTo>
                    <a:pt x="765933" y="0"/>
                  </a:lnTo>
                  <a:cubicBezTo>
                    <a:pt x="782759" y="0"/>
                    <a:pt x="796399" y="13640"/>
                    <a:pt x="796399" y="30466"/>
                  </a:cubicBezTo>
                  <a:lnTo>
                    <a:pt x="796399" y="180985"/>
                  </a:lnTo>
                  <a:cubicBezTo>
                    <a:pt x="796399" y="197811"/>
                    <a:pt x="782759" y="211451"/>
                    <a:pt x="765933" y="211451"/>
                  </a:cubicBezTo>
                  <a:lnTo>
                    <a:pt x="30466" y="211451"/>
                  </a:lnTo>
                  <a:cubicBezTo>
                    <a:pt x="13640" y="211451"/>
                    <a:pt x="0" y="197811"/>
                    <a:pt x="0" y="180985"/>
                  </a:cubicBezTo>
                  <a:lnTo>
                    <a:pt x="0" y="30466"/>
                  </a:lnTo>
                  <a:cubicBezTo>
                    <a:pt x="0" y="13640"/>
                    <a:pt x="13640" y="0"/>
                    <a:pt x="30466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96399" cy="249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GIỚI THIỆU DỰ ÁN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701674" y="3171102"/>
            <a:ext cx="3557626" cy="944580"/>
            <a:chOff x="0" y="0"/>
            <a:chExt cx="796399" cy="21145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6399" cy="211451"/>
            </a:xfrm>
            <a:custGeom>
              <a:avLst/>
              <a:gdLst/>
              <a:ahLst/>
              <a:cxnLst/>
              <a:rect l="l" t="t" r="r" b="b"/>
              <a:pathLst>
                <a:path w="796399" h="211451">
                  <a:moveTo>
                    <a:pt x="30466" y="0"/>
                  </a:moveTo>
                  <a:lnTo>
                    <a:pt x="765933" y="0"/>
                  </a:lnTo>
                  <a:cubicBezTo>
                    <a:pt x="782759" y="0"/>
                    <a:pt x="796399" y="13640"/>
                    <a:pt x="796399" y="30466"/>
                  </a:cubicBezTo>
                  <a:lnTo>
                    <a:pt x="796399" y="180985"/>
                  </a:lnTo>
                  <a:cubicBezTo>
                    <a:pt x="796399" y="197811"/>
                    <a:pt x="782759" y="211451"/>
                    <a:pt x="765933" y="211451"/>
                  </a:cubicBezTo>
                  <a:lnTo>
                    <a:pt x="30466" y="211451"/>
                  </a:lnTo>
                  <a:cubicBezTo>
                    <a:pt x="13640" y="211451"/>
                    <a:pt x="0" y="197811"/>
                    <a:pt x="0" y="180985"/>
                  </a:cubicBezTo>
                  <a:lnTo>
                    <a:pt x="0" y="30466"/>
                  </a:lnTo>
                  <a:cubicBezTo>
                    <a:pt x="0" y="13640"/>
                    <a:pt x="13640" y="0"/>
                    <a:pt x="30466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96399" cy="249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ĐẶC TẢ YÊU CẦU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701674" y="5953372"/>
            <a:ext cx="3557626" cy="944580"/>
            <a:chOff x="0" y="0"/>
            <a:chExt cx="796399" cy="2114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96399" cy="211451"/>
            </a:xfrm>
            <a:custGeom>
              <a:avLst/>
              <a:gdLst/>
              <a:ahLst/>
              <a:cxnLst/>
              <a:rect l="l" t="t" r="r" b="b"/>
              <a:pathLst>
                <a:path w="796399" h="211451">
                  <a:moveTo>
                    <a:pt x="30466" y="0"/>
                  </a:moveTo>
                  <a:lnTo>
                    <a:pt x="765933" y="0"/>
                  </a:lnTo>
                  <a:cubicBezTo>
                    <a:pt x="782759" y="0"/>
                    <a:pt x="796399" y="13640"/>
                    <a:pt x="796399" y="30466"/>
                  </a:cubicBezTo>
                  <a:lnTo>
                    <a:pt x="796399" y="180985"/>
                  </a:lnTo>
                  <a:cubicBezTo>
                    <a:pt x="796399" y="197811"/>
                    <a:pt x="782759" y="211451"/>
                    <a:pt x="765933" y="211451"/>
                  </a:cubicBezTo>
                  <a:lnTo>
                    <a:pt x="30466" y="211451"/>
                  </a:lnTo>
                  <a:cubicBezTo>
                    <a:pt x="13640" y="211451"/>
                    <a:pt x="0" y="197811"/>
                    <a:pt x="0" y="180985"/>
                  </a:cubicBezTo>
                  <a:lnTo>
                    <a:pt x="0" y="30466"/>
                  </a:lnTo>
                  <a:cubicBezTo>
                    <a:pt x="0" y="13640"/>
                    <a:pt x="13640" y="0"/>
                    <a:pt x="30466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96399" cy="249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CẤU TRÚC WEBSITE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49289" y="5953372"/>
            <a:ext cx="3557626" cy="944580"/>
            <a:chOff x="0" y="0"/>
            <a:chExt cx="796399" cy="2114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96399" cy="211451"/>
            </a:xfrm>
            <a:custGeom>
              <a:avLst/>
              <a:gdLst/>
              <a:ahLst/>
              <a:cxnLst/>
              <a:rect l="l" t="t" r="r" b="b"/>
              <a:pathLst>
                <a:path w="796399" h="211451">
                  <a:moveTo>
                    <a:pt x="30466" y="0"/>
                  </a:moveTo>
                  <a:lnTo>
                    <a:pt x="765933" y="0"/>
                  </a:lnTo>
                  <a:cubicBezTo>
                    <a:pt x="782759" y="0"/>
                    <a:pt x="796399" y="13640"/>
                    <a:pt x="796399" y="30466"/>
                  </a:cubicBezTo>
                  <a:lnTo>
                    <a:pt x="796399" y="180985"/>
                  </a:lnTo>
                  <a:cubicBezTo>
                    <a:pt x="796399" y="197811"/>
                    <a:pt x="782759" y="211451"/>
                    <a:pt x="765933" y="211451"/>
                  </a:cubicBezTo>
                  <a:lnTo>
                    <a:pt x="30466" y="211451"/>
                  </a:lnTo>
                  <a:cubicBezTo>
                    <a:pt x="13640" y="211451"/>
                    <a:pt x="0" y="197811"/>
                    <a:pt x="0" y="180985"/>
                  </a:cubicBezTo>
                  <a:lnTo>
                    <a:pt x="0" y="30466"/>
                  </a:lnTo>
                  <a:cubicBezTo>
                    <a:pt x="0" y="13640"/>
                    <a:pt x="13640" y="0"/>
                    <a:pt x="30466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96399" cy="249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SƠ ĐỒ USECASE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96114" y="5953372"/>
            <a:ext cx="3557626" cy="944580"/>
            <a:chOff x="0" y="0"/>
            <a:chExt cx="796399" cy="21145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96399" cy="211451"/>
            </a:xfrm>
            <a:custGeom>
              <a:avLst/>
              <a:gdLst/>
              <a:ahLst/>
              <a:cxnLst/>
              <a:rect l="l" t="t" r="r" b="b"/>
              <a:pathLst>
                <a:path w="796399" h="211451">
                  <a:moveTo>
                    <a:pt x="30466" y="0"/>
                  </a:moveTo>
                  <a:lnTo>
                    <a:pt x="765933" y="0"/>
                  </a:lnTo>
                  <a:cubicBezTo>
                    <a:pt x="782759" y="0"/>
                    <a:pt x="796399" y="13640"/>
                    <a:pt x="796399" y="30466"/>
                  </a:cubicBezTo>
                  <a:lnTo>
                    <a:pt x="796399" y="180985"/>
                  </a:lnTo>
                  <a:cubicBezTo>
                    <a:pt x="796399" y="197811"/>
                    <a:pt x="782759" y="211451"/>
                    <a:pt x="765933" y="211451"/>
                  </a:cubicBezTo>
                  <a:lnTo>
                    <a:pt x="30466" y="211451"/>
                  </a:lnTo>
                  <a:cubicBezTo>
                    <a:pt x="13640" y="211451"/>
                    <a:pt x="0" y="197811"/>
                    <a:pt x="0" y="180985"/>
                  </a:cubicBezTo>
                  <a:lnTo>
                    <a:pt x="0" y="30466"/>
                  </a:lnTo>
                  <a:cubicBezTo>
                    <a:pt x="0" y="13640"/>
                    <a:pt x="13640" y="0"/>
                    <a:pt x="30466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796399" cy="249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SƠ ĐỒ DATAMODEL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63667" y="8313720"/>
            <a:ext cx="1899711" cy="944580"/>
            <a:chOff x="0" y="0"/>
            <a:chExt cx="425263" cy="2114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25263" cy="211451"/>
            </a:xfrm>
            <a:custGeom>
              <a:avLst/>
              <a:gdLst/>
              <a:ahLst/>
              <a:cxnLst/>
              <a:rect l="l" t="t" r="r" b="b"/>
              <a:pathLst>
                <a:path w="425263" h="211451">
                  <a:moveTo>
                    <a:pt x="57054" y="0"/>
                  </a:moveTo>
                  <a:lnTo>
                    <a:pt x="368209" y="0"/>
                  </a:lnTo>
                  <a:cubicBezTo>
                    <a:pt x="383341" y="0"/>
                    <a:pt x="397853" y="6011"/>
                    <a:pt x="408552" y="16711"/>
                  </a:cubicBezTo>
                  <a:cubicBezTo>
                    <a:pt x="419252" y="27411"/>
                    <a:pt x="425263" y="41923"/>
                    <a:pt x="425263" y="57054"/>
                  </a:cubicBezTo>
                  <a:lnTo>
                    <a:pt x="425263" y="154396"/>
                  </a:lnTo>
                  <a:cubicBezTo>
                    <a:pt x="425263" y="169528"/>
                    <a:pt x="419252" y="184040"/>
                    <a:pt x="408552" y="194740"/>
                  </a:cubicBezTo>
                  <a:cubicBezTo>
                    <a:pt x="397853" y="205440"/>
                    <a:pt x="383341" y="211451"/>
                    <a:pt x="368209" y="211451"/>
                  </a:cubicBezTo>
                  <a:lnTo>
                    <a:pt x="57054" y="211451"/>
                  </a:lnTo>
                  <a:cubicBezTo>
                    <a:pt x="41923" y="211451"/>
                    <a:pt x="27411" y="205440"/>
                    <a:pt x="16711" y="194740"/>
                  </a:cubicBezTo>
                  <a:cubicBezTo>
                    <a:pt x="6011" y="184040"/>
                    <a:pt x="0" y="169528"/>
                    <a:pt x="0" y="154396"/>
                  </a:cubicBezTo>
                  <a:lnTo>
                    <a:pt x="0" y="57054"/>
                  </a:lnTo>
                  <a:cubicBezTo>
                    <a:pt x="0" y="41923"/>
                    <a:pt x="6011" y="27411"/>
                    <a:pt x="16711" y="16711"/>
                  </a:cubicBezTo>
                  <a:cubicBezTo>
                    <a:pt x="27411" y="6011"/>
                    <a:pt x="41923" y="0"/>
                    <a:pt x="57054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425263" cy="259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DEMO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397636" y="8313720"/>
            <a:ext cx="2406221" cy="944580"/>
            <a:chOff x="0" y="0"/>
            <a:chExt cx="538649" cy="2114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38649" cy="211451"/>
            </a:xfrm>
            <a:custGeom>
              <a:avLst/>
              <a:gdLst/>
              <a:ahLst/>
              <a:cxnLst/>
              <a:rect l="l" t="t" r="r" b="b"/>
              <a:pathLst>
                <a:path w="538649" h="211451">
                  <a:moveTo>
                    <a:pt x="45044" y="0"/>
                  </a:moveTo>
                  <a:lnTo>
                    <a:pt x="493605" y="0"/>
                  </a:lnTo>
                  <a:cubicBezTo>
                    <a:pt x="505551" y="0"/>
                    <a:pt x="517008" y="4746"/>
                    <a:pt x="525456" y="13193"/>
                  </a:cubicBezTo>
                  <a:cubicBezTo>
                    <a:pt x="533903" y="21641"/>
                    <a:pt x="538649" y="33098"/>
                    <a:pt x="538649" y="45044"/>
                  </a:cubicBezTo>
                  <a:lnTo>
                    <a:pt x="538649" y="166406"/>
                  </a:lnTo>
                  <a:cubicBezTo>
                    <a:pt x="538649" y="191284"/>
                    <a:pt x="518482" y="211451"/>
                    <a:pt x="493605" y="211451"/>
                  </a:cubicBezTo>
                  <a:lnTo>
                    <a:pt x="45044" y="211451"/>
                  </a:lnTo>
                  <a:cubicBezTo>
                    <a:pt x="20167" y="211451"/>
                    <a:pt x="0" y="191284"/>
                    <a:pt x="0" y="166406"/>
                  </a:cubicBezTo>
                  <a:lnTo>
                    <a:pt x="0" y="45044"/>
                  </a:lnTo>
                  <a:cubicBezTo>
                    <a:pt x="0" y="20167"/>
                    <a:pt x="20167" y="0"/>
                    <a:pt x="45044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538649" cy="249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KẾT LUẬN</a:t>
              </a:r>
            </a:p>
          </p:txBody>
        </p:sp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799529" y="4273680"/>
            <a:ext cx="1361916" cy="1521694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5400000">
            <a:off x="11773337" y="2882546"/>
            <a:ext cx="1361916" cy="1521694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5400000">
            <a:off x="5721709" y="2882546"/>
            <a:ext cx="1361916" cy="1521694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5400000">
            <a:off x="11773337" y="5715485"/>
            <a:ext cx="1361916" cy="1521694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5400000">
            <a:off x="5832564" y="5715485"/>
            <a:ext cx="1361916" cy="1521694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10114617" flipH="1">
            <a:off x="2086201" y="6755152"/>
            <a:ext cx="2980329" cy="2876017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5400000">
            <a:off x="8249549" y="8025163"/>
            <a:ext cx="1361916" cy="1521694"/>
          </a:xfrm>
          <a:prstGeom prst="rect">
            <a:avLst/>
          </a:prstGeom>
        </p:spPr>
      </p:pic>
      <p:sp>
        <p:nvSpPr>
          <p:cNvPr id="33" name="Freeform 33"/>
          <p:cNvSpPr/>
          <p:nvPr/>
        </p:nvSpPr>
        <p:spPr>
          <a:xfrm rot="2317613">
            <a:off x="-586963" y="-349318"/>
            <a:ext cx="3232607" cy="4114800"/>
          </a:xfrm>
          <a:custGeom>
            <a:avLst/>
            <a:gdLst/>
            <a:ahLst/>
            <a:cxnLst/>
            <a:rect l="l" t="t" r="r" b="b"/>
            <a:pathLst>
              <a:path w="3232607" h="4114800">
                <a:moveTo>
                  <a:pt x="0" y="0"/>
                </a:moveTo>
                <a:lnTo>
                  <a:pt x="3232607" y="0"/>
                </a:lnTo>
                <a:lnTo>
                  <a:pt x="32326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7649289" y="158113"/>
            <a:ext cx="3171111" cy="870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 spc="-188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MỤC</a:t>
            </a:r>
            <a:r>
              <a:rPr lang="en-US" sz="5099" b="1" spc="-188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099" b="1" spc="-188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LỤC</a:t>
            </a:r>
            <a:endParaRPr lang="en-US" sz="5099" b="1" spc="-188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E8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528991" flipH="1">
            <a:off x="14305985" y="-760489"/>
            <a:ext cx="3948810" cy="4487284"/>
          </a:xfrm>
          <a:custGeom>
            <a:avLst/>
            <a:gdLst/>
            <a:ahLst/>
            <a:cxnLst/>
            <a:rect l="l" t="t" r="r" b="b"/>
            <a:pathLst>
              <a:path w="3948810" h="4487284">
                <a:moveTo>
                  <a:pt x="3948810" y="0"/>
                </a:moveTo>
                <a:lnTo>
                  <a:pt x="0" y="0"/>
                </a:lnTo>
                <a:lnTo>
                  <a:pt x="0" y="4487283"/>
                </a:lnTo>
                <a:lnTo>
                  <a:pt x="3948810" y="4487283"/>
                </a:lnTo>
                <a:lnTo>
                  <a:pt x="394881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650978" flipH="1">
            <a:off x="10747665" y="1492736"/>
            <a:ext cx="7962553" cy="7079433"/>
          </a:xfrm>
          <a:custGeom>
            <a:avLst/>
            <a:gdLst/>
            <a:ahLst/>
            <a:cxnLst/>
            <a:rect l="l" t="t" r="r" b="b"/>
            <a:pathLst>
              <a:path w="7962553" h="7079433">
                <a:moveTo>
                  <a:pt x="7962553" y="0"/>
                </a:moveTo>
                <a:lnTo>
                  <a:pt x="0" y="0"/>
                </a:lnTo>
                <a:lnTo>
                  <a:pt x="0" y="7079434"/>
                </a:lnTo>
                <a:lnTo>
                  <a:pt x="7962553" y="7079434"/>
                </a:lnTo>
                <a:lnTo>
                  <a:pt x="7962553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650978" flipH="1">
            <a:off x="10696678" y="1226705"/>
            <a:ext cx="7962553" cy="7079433"/>
          </a:xfrm>
          <a:custGeom>
            <a:avLst/>
            <a:gdLst/>
            <a:ahLst/>
            <a:cxnLst/>
            <a:rect l="l" t="t" r="r" b="b"/>
            <a:pathLst>
              <a:path w="7962553" h="7079433">
                <a:moveTo>
                  <a:pt x="7962553" y="0"/>
                </a:moveTo>
                <a:lnTo>
                  <a:pt x="0" y="0"/>
                </a:lnTo>
                <a:lnTo>
                  <a:pt x="0" y="7079434"/>
                </a:lnTo>
                <a:lnTo>
                  <a:pt x="7962553" y="7079434"/>
                </a:lnTo>
                <a:lnTo>
                  <a:pt x="796255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743">
            <a:off x="11231568" y="3185105"/>
            <a:ext cx="1714328" cy="1980841"/>
          </a:xfrm>
          <a:custGeom>
            <a:avLst/>
            <a:gdLst/>
            <a:ahLst/>
            <a:cxnLst/>
            <a:rect l="l" t="t" r="r" b="b"/>
            <a:pathLst>
              <a:path w="1714328" h="1980841">
                <a:moveTo>
                  <a:pt x="0" y="0"/>
                </a:moveTo>
                <a:lnTo>
                  <a:pt x="1714328" y="0"/>
                </a:lnTo>
                <a:lnTo>
                  <a:pt x="1714328" y="1980841"/>
                </a:lnTo>
                <a:lnTo>
                  <a:pt x="0" y="1980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131315">
            <a:off x="2578703" y="1300260"/>
            <a:ext cx="5952801" cy="1085644"/>
            <a:chOff x="0" y="0"/>
            <a:chExt cx="1603632" cy="2924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03632" cy="292463"/>
            </a:xfrm>
            <a:custGeom>
              <a:avLst/>
              <a:gdLst/>
              <a:ahLst/>
              <a:cxnLst/>
              <a:rect l="l" t="t" r="r" b="b"/>
              <a:pathLst>
                <a:path w="1603632" h="292463">
                  <a:moveTo>
                    <a:pt x="18208" y="0"/>
                  </a:moveTo>
                  <a:lnTo>
                    <a:pt x="1585424" y="0"/>
                  </a:lnTo>
                  <a:cubicBezTo>
                    <a:pt x="1595480" y="0"/>
                    <a:pt x="1603632" y="8152"/>
                    <a:pt x="1603632" y="18208"/>
                  </a:cubicBezTo>
                  <a:lnTo>
                    <a:pt x="1603632" y="274255"/>
                  </a:lnTo>
                  <a:cubicBezTo>
                    <a:pt x="1603632" y="279084"/>
                    <a:pt x="1601714" y="283715"/>
                    <a:pt x="1598299" y="287130"/>
                  </a:cubicBezTo>
                  <a:cubicBezTo>
                    <a:pt x="1594885" y="290545"/>
                    <a:pt x="1590253" y="292463"/>
                    <a:pt x="1585424" y="292463"/>
                  </a:cubicBezTo>
                  <a:lnTo>
                    <a:pt x="18208" y="292463"/>
                  </a:lnTo>
                  <a:cubicBezTo>
                    <a:pt x="13379" y="292463"/>
                    <a:pt x="8748" y="290545"/>
                    <a:pt x="5333" y="287130"/>
                  </a:cubicBezTo>
                  <a:cubicBezTo>
                    <a:pt x="1918" y="283715"/>
                    <a:pt x="0" y="279084"/>
                    <a:pt x="0" y="274255"/>
                  </a:cubicBezTo>
                  <a:lnTo>
                    <a:pt x="0" y="18208"/>
                  </a:lnTo>
                  <a:cubicBezTo>
                    <a:pt x="0" y="13379"/>
                    <a:pt x="1918" y="8748"/>
                    <a:pt x="5333" y="5333"/>
                  </a:cubicBezTo>
                  <a:cubicBezTo>
                    <a:pt x="8748" y="1918"/>
                    <a:pt x="13379" y="0"/>
                    <a:pt x="18208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03632" cy="330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31315">
            <a:off x="2480142" y="1203133"/>
            <a:ext cx="5952801" cy="1085644"/>
            <a:chOff x="0" y="0"/>
            <a:chExt cx="1603632" cy="2924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03632" cy="292463"/>
            </a:xfrm>
            <a:custGeom>
              <a:avLst/>
              <a:gdLst/>
              <a:ahLst/>
              <a:cxnLst/>
              <a:rect l="l" t="t" r="r" b="b"/>
              <a:pathLst>
                <a:path w="1603632" h="292463">
                  <a:moveTo>
                    <a:pt x="18208" y="0"/>
                  </a:moveTo>
                  <a:lnTo>
                    <a:pt x="1585424" y="0"/>
                  </a:lnTo>
                  <a:cubicBezTo>
                    <a:pt x="1595480" y="0"/>
                    <a:pt x="1603632" y="8152"/>
                    <a:pt x="1603632" y="18208"/>
                  </a:cubicBezTo>
                  <a:lnTo>
                    <a:pt x="1603632" y="274255"/>
                  </a:lnTo>
                  <a:cubicBezTo>
                    <a:pt x="1603632" y="279084"/>
                    <a:pt x="1601714" y="283715"/>
                    <a:pt x="1598299" y="287130"/>
                  </a:cubicBezTo>
                  <a:cubicBezTo>
                    <a:pt x="1594885" y="290545"/>
                    <a:pt x="1590253" y="292463"/>
                    <a:pt x="1585424" y="292463"/>
                  </a:cubicBezTo>
                  <a:lnTo>
                    <a:pt x="18208" y="292463"/>
                  </a:lnTo>
                  <a:cubicBezTo>
                    <a:pt x="13379" y="292463"/>
                    <a:pt x="8748" y="290545"/>
                    <a:pt x="5333" y="287130"/>
                  </a:cubicBezTo>
                  <a:cubicBezTo>
                    <a:pt x="1918" y="283715"/>
                    <a:pt x="0" y="279084"/>
                    <a:pt x="0" y="274255"/>
                  </a:cubicBezTo>
                  <a:lnTo>
                    <a:pt x="0" y="18208"/>
                  </a:lnTo>
                  <a:cubicBezTo>
                    <a:pt x="0" y="13379"/>
                    <a:pt x="1918" y="8748"/>
                    <a:pt x="5333" y="5333"/>
                  </a:cubicBezTo>
                  <a:cubicBezTo>
                    <a:pt x="8748" y="1918"/>
                    <a:pt x="13379" y="0"/>
                    <a:pt x="18208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1603632" cy="378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019"/>
                </a:lnSpc>
              </a:pPr>
              <a:r>
                <a:rPr lang="en-US" sz="4299" b="1">
                  <a:solidFill>
                    <a:srgbClr val="00010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LÝ DO CHỌN ĐỀ TÀI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89568" y="2837804"/>
            <a:ext cx="7854432" cy="3498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6270" lvl="1" indent="-433135" algn="just">
              <a:lnSpc>
                <a:spcPts val="5617"/>
              </a:lnSpc>
              <a:buFont typeface="Arial"/>
              <a:buChar char="•"/>
            </a:pPr>
            <a:r>
              <a:rPr lang="en-US" sz="401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Tiếng Anh là một ngôn ngữ phổ biến và ngày càng phổ biến nhưng không phải ai cũng có thời gian để đến trung tâm.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9568" y="6392576"/>
            <a:ext cx="7890709" cy="3498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5760" lvl="1" indent="-432880" algn="just">
              <a:lnSpc>
                <a:spcPts val="5614"/>
              </a:lnSpc>
              <a:buFont typeface="Arial"/>
              <a:buChar char="•"/>
            </a:pPr>
            <a:r>
              <a:rPr lang="en-US" sz="40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Nhóm lựa chọn đề tài này để xây dựng một trang web học tiếng Anh trựa tuyến để đáp ứng nhu cầu trên.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01403" y="-15011"/>
            <a:ext cx="7086597" cy="10302011"/>
            <a:chOff x="0" y="0"/>
            <a:chExt cx="812800" cy="1181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181593"/>
            </a:xfrm>
            <a:custGeom>
              <a:avLst/>
              <a:gdLst/>
              <a:ahLst/>
              <a:cxnLst/>
              <a:rect l="l" t="t" r="r" b="b"/>
              <a:pathLst>
                <a:path w="812800" h="1181593">
                  <a:moveTo>
                    <a:pt x="0" y="0"/>
                  </a:moveTo>
                  <a:lnTo>
                    <a:pt x="812800" y="0"/>
                  </a:lnTo>
                  <a:lnTo>
                    <a:pt x="812800" y="1181593"/>
                  </a:lnTo>
                  <a:lnTo>
                    <a:pt x="0" y="1181593"/>
                  </a:lnTo>
                  <a:close/>
                </a:path>
              </a:pathLst>
            </a:custGeom>
            <a:blipFill>
              <a:blip r:embed="rId2"/>
              <a:stretch>
                <a:fillRect t="-1526" b="-15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2525933"/>
            <a:ext cx="11665149" cy="6185569"/>
            <a:chOff x="0" y="0"/>
            <a:chExt cx="3072303" cy="16291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72303" cy="1629121"/>
            </a:xfrm>
            <a:custGeom>
              <a:avLst/>
              <a:gdLst/>
              <a:ahLst/>
              <a:cxnLst/>
              <a:rect l="l" t="t" r="r" b="b"/>
              <a:pathLst>
                <a:path w="3072303" h="1629121">
                  <a:moveTo>
                    <a:pt x="0" y="0"/>
                  </a:moveTo>
                  <a:lnTo>
                    <a:pt x="3072303" y="0"/>
                  </a:lnTo>
                  <a:lnTo>
                    <a:pt x="3072303" y="1629121"/>
                  </a:lnTo>
                  <a:lnTo>
                    <a:pt x="0" y="1629121"/>
                  </a:lnTo>
                  <a:close/>
                </a:path>
              </a:pathLst>
            </a:custGeom>
            <a:solidFill>
              <a:srgbClr val="D4E84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072303" cy="16767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572708" y="-1266674"/>
            <a:ext cx="4054948" cy="4114800"/>
          </a:xfrm>
          <a:custGeom>
            <a:avLst/>
            <a:gdLst/>
            <a:ahLst/>
            <a:cxnLst/>
            <a:rect l="l" t="t" r="r" b="b"/>
            <a:pathLst>
              <a:path w="4054948" h="4114800">
                <a:moveTo>
                  <a:pt x="0" y="0"/>
                </a:moveTo>
                <a:lnTo>
                  <a:pt x="4054949" y="0"/>
                </a:lnTo>
                <a:lnTo>
                  <a:pt x="4054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847876"/>
            <a:ext cx="7772582" cy="94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49"/>
              </a:lnSpc>
            </a:pPr>
            <a:r>
              <a:rPr lang="en-US" sz="6590" b="1" spc="-243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GIỚI THIỆU DỰ ÁN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800501"/>
            <a:ext cx="11360450" cy="592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just">
              <a:lnSpc>
                <a:spcPts val="3919"/>
              </a:lnSpc>
              <a:buFont typeface="Arial"/>
              <a:buChar char="•"/>
            </a:pPr>
            <a:r>
              <a:rPr lang="en-US" sz="2799" b="1" dirty="0" err="1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Tên</a:t>
            </a:r>
            <a:r>
              <a:rPr lang="en-US" sz="2799" b="1" dirty="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dự</a:t>
            </a:r>
            <a:r>
              <a:rPr lang="en-US" sz="2799" b="1" dirty="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án</a:t>
            </a:r>
            <a:r>
              <a:rPr lang="en-US" sz="2799" b="1" dirty="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OpenEnglish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online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thông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qua video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bài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giảng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tài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bài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tập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miễn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phí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604516" lvl="1" indent="-302258" algn="just">
              <a:lnSpc>
                <a:spcPts val="3919"/>
              </a:lnSpc>
              <a:buFont typeface="Arial"/>
              <a:buChar char="•"/>
            </a:pP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Dự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án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xây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dựng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trang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web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tiếng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Anh online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thông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qua video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bài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giảng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tài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hệ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thống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bài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tập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trắc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nghiệm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thông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minh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Dự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án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sử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dụng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ngôn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ngữ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PHP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thuần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PDO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Backend,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kết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hợp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với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HTML, CSS, JavaScript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Frontend,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chạy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trên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môi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trường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XAMPP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(Apache &amp; MySQL).</a:t>
            </a:r>
          </a:p>
          <a:p>
            <a:pPr marL="604516" lvl="1" indent="-302258" algn="just">
              <a:lnSpc>
                <a:spcPts val="3919"/>
              </a:lnSpc>
              <a:buFont typeface="Arial"/>
              <a:buChar char="•"/>
            </a:pPr>
            <a:r>
              <a:rPr lang="en-US" sz="2799" b="1" dirty="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Source code &amp; team management: 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GitHub. 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dirty="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Diagrams (</a:t>
            </a:r>
            <a:r>
              <a:rPr lang="en-US" sz="2799" b="1" dirty="0" err="1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DFD</a:t>
            </a:r>
            <a:r>
              <a:rPr lang="en-US" sz="2799" b="1" dirty="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/UML/DB schema):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u="sng" dirty="0">
                <a:latin typeface="Montserrat"/>
                <a:ea typeface="Montserrat"/>
                <a:cs typeface="Montserrat"/>
                <a:sym typeface="Montserrat"/>
                <a:hlinkClick r:id="rId4" tooltip="https://drawsql.ap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app.diagrams.</a:t>
            </a:r>
            <a:r>
              <a:rPr lang="en-US" sz="2799" u="sng" dirty="0">
                <a:latin typeface="Montserrat"/>
                <a:ea typeface="Montserrat"/>
                <a:cs typeface="Montserrat"/>
                <a:sym typeface="Montserrat"/>
              </a:rPr>
              <a:t>net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799" dirty="0" err="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drawsql.app</a:t>
            </a:r>
            <a:endParaRPr lang="en-US" sz="2799" dirty="0">
              <a:solidFill>
                <a:srgbClr val="00010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04516" lvl="1" indent="-302258" algn="just">
              <a:lnSpc>
                <a:spcPts val="3919"/>
              </a:lnSpc>
              <a:buFont typeface="Arial"/>
              <a:buChar char="•"/>
            </a:pPr>
            <a:r>
              <a:rPr lang="en-US" sz="2799" b="1" dirty="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IDE: 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Visual Studio Code. </a:t>
            </a:r>
          </a:p>
          <a:p>
            <a:pPr marL="604516" lvl="1" indent="-302258" algn="just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dirty="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Technology: </a:t>
            </a:r>
            <a:r>
              <a:rPr lang="en-US" sz="2799" dirty="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HTML, CSS, JavaScript, PHP, MySQL,…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20993">
            <a:off x="13794776" y="8152379"/>
            <a:ext cx="3383740" cy="3845160"/>
          </a:xfrm>
          <a:custGeom>
            <a:avLst/>
            <a:gdLst/>
            <a:ahLst/>
            <a:cxnLst/>
            <a:rect l="l" t="t" r="r" b="b"/>
            <a:pathLst>
              <a:path w="3383740" h="3845160">
                <a:moveTo>
                  <a:pt x="0" y="0"/>
                </a:moveTo>
                <a:lnTo>
                  <a:pt x="3383740" y="0"/>
                </a:lnTo>
                <a:lnTo>
                  <a:pt x="3383740" y="3845160"/>
                </a:lnTo>
                <a:lnTo>
                  <a:pt x="0" y="3845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93652" y="3376968"/>
            <a:ext cx="10092864" cy="6697991"/>
          </a:xfrm>
          <a:custGeom>
            <a:avLst/>
            <a:gdLst/>
            <a:ahLst/>
            <a:cxnLst/>
            <a:rect l="l" t="t" r="r" b="b"/>
            <a:pathLst>
              <a:path w="10092864" h="6697991">
                <a:moveTo>
                  <a:pt x="0" y="0"/>
                </a:moveTo>
                <a:lnTo>
                  <a:pt x="10092864" y="0"/>
                </a:lnTo>
                <a:lnTo>
                  <a:pt x="10092864" y="6697991"/>
                </a:lnTo>
                <a:lnTo>
                  <a:pt x="0" y="66979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191152" y="2937729"/>
            <a:ext cx="10689193" cy="6320571"/>
            <a:chOff x="0" y="0"/>
            <a:chExt cx="2815261" cy="16646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15261" cy="1664677"/>
            </a:xfrm>
            <a:custGeom>
              <a:avLst/>
              <a:gdLst/>
              <a:ahLst/>
              <a:cxnLst/>
              <a:rect l="l" t="t" r="r" b="b"/>
              <a:pathLst>
                <a:path w="2815261" h="1664677">
                  <a:moveTo>
                    <a:pt x="10864" y="0"/>
                  </a:moveTo>
                  <a:lnTo>
                    <a:pt x="2804397" y="0"/>
                  </a:lnTo>
                  <a:cubicBezTo>
                    <a:pt x="2807278" y="0"/>
                    <a:pt x="2810041" y="1145"/>
                    <a:pt x="2812079" y="3182"/>
                  </a:cubicBezTo>
                  <a:cubicBezTo>
                    <a:pt x="2814116" y="5219"/>
                    <a:pt x="2815261" y="7983"/>
                    <a:pt x="2815261" y="10864"/>
                  </a:cubicBezTo>
                  <a:lnTo>
                    <a:pt x="2815261" y="1653813"/>
                  </a:lnTo>
                  <a:cubicBezTo>
                    <a:pt x="2815261" y="1656694"/>
                    <a:pt x="2814116" y="1659458"/>
                    <a:pt x="2812079" y="1661495"/>
                  </a:cubicBezTo>
                  <a:cubicBezTo>
                    <a:pt x="2810041" y="1663533"/>
                    <a:pt x="2807278" y="1664677"/>
                    <a:pt x="2804397" y="1664677"/>
                  </a:cubicBezTo>
                  <a:lnTo>
                    <a:pt x="10864" y="1664677"/>
                  </a:lnTo>
                  <a:cubicBezTo>
                    <a:pt x="7983" y="1664677"/>
                    <a:pt x="5219" y="1663533"/>
                    <a:pt x="3182" y="1661495"/>
                  </a:cubicBezTo>
                  <a:cubicBezTo>
                    <a:pt x="1145" y="1659458"/>
                    <a:pt x="0" y="1656694"/>
                    <a:pt x="0" y="1653813"/>
                  </a:cubicBezTo>
                  <a:lnTo>
                    <a:pt x="0" y="10864"/>
                  </a:lnTo>
                  <a:cubicBezTo>
                    <a:pt x="0" y="7983"/>
                    <a:pt x="1145" y="5219"/>
                    <a:pt x="3182" y="3182"/>
                  </a:cubicBezTo>
                  <a:cubicBezTo>
                    <a:pt x="5219" y="1145"/>
                    <a:pt x="7983" y="0"/>
                    <a:pt x="10864" y="0"/>
                  </a:cubicBezTo>
                  <a:close/>
                </a:path>
              </a:pathLst>
            </a:custGeom>
            <a:solidFill>
              <a:srgbClr val="D4E84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815261" cy="1712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64441" y="1356579"/>
            <a:ext cx="11943934" cy="145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19"/>
              </a:lnSpc>
            </a:pPr>
            <a:r>
              <a:rPr lang="en-US" sz="5199" b="1" spc="-192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XÁC THỰC &amp; PHÂN QUYỀN (AUTH &amp; AUTHORIZATION)</a:t>
            </a:r>
          </a:p>
        </p:txBody>
      </p:sp>
      <p:sp>
        <p:nvSpPr>
          <p:cNvPr id="8" name="Freeform 8"/>
          <p:cNvSpPr/>
          <p:nvPr/>
        </p:nvSpPr>
        <p:spPr>
          <a:xfrm rot="-7693203">
            <a:off x="14962166" y="226604"/>
            <a:ext cx="3383740" cy="3845160"/>
          </a:xfrm>
          <a:custGeom>
            <a:avLst/>
            <a:gdLst/>
            <a:ahLst/>
            <a:cxnLst/>
            <a:rect l="l" t="t" r="r" b="b"/>
            <a:pathLst>
              <a:path w="3383740" h="3845160">
                <a:moveTo>
                  <a:pt x="0" y="0"/>
                </a:moveTo>
                <a:lnTo>
                  <a:pt x="3383740" y="0"/>
                </a:lnTo>
                <a:lnTo>
                  <a:pt x="3383740" y="3845159"/>
                </a:lnTo>
                <a:lnTo>
                  <a:pt x="0" y="3845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4598812">
            <a:off x="1133459" y="3504761"/>
            <a:ext cx="3559805" cy="3029071"/>
          </a:xfrm>
          <a:custGeom>
            <a:avLst/>
            <a:gdLst/>
            <a:ahLst/>
            <a:cxnLst/>
            <a:rect l="l" t="t" r="r" b="b"/>
            <a:pathLst>
              <a:path w="3559805" h="3029071">
                <a:moveTo>
                  <a:pt x="0" y="0"/>
                </a:moveTo>
                <a:lnTo>
                  <a:pt x="3559806" y="0"/>
                </a:lnTo>
                <a:lnTo>
                  <a:pt x="3559806" y="3029071"/>
                </a:lnTo>
                <a:lnTo>
                  <a:pt x="0" y="302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34624" y="5555495"/>
            <a:ext cx="5318057" cy="4312460"/>
          </a:xfrm>
          <a:custGeom>
            <a:avLst/>
            <a:gdLst/>
            <a:ahLst/>
            <a:cxnLst/>
            <a:rect l="l" t="t" r="r" b="b"/>
            <a:pathLst>
              <a:path w="5318057" h="4312460">
                <a:moveTo>
                  <a:pt x="0" y="0"/>
                </a:moveTo>
                <a:lnTo>
                  <a:pt x="5318057" y="0"/>
                </a:lnTo>
                <a:lnTo>
                  <a:pt x="5318057" y="4312460"/>
                </a:lnTo>
                <a:lnTo>
                  <a:pt x="0" y="4312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6571"/>
            <a:ext cx="9512907" cy="1252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19"/>
              </a:lnSpc>
              <a:spcBef>
                <a:spcPct val="0"/>
              </a:spcBef>
            </a:pPr>
            <a:r>
              <a:rPr lang="en-US" sz="7299" b="1" spc="-27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ĐẶC TẢ YÊU CẦU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49887" y="3066929"/>
            <a:ext cx="9794040" cy="592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FR-1.1 (Đăng ký tài khoản):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Nhập Họ tên, Email hợp lệ, Mật khẩu (tối thiểu 8 ký tự, có 1 chữ Hoa và 1 chữ số), kiểm tra không trùng lặp và lưu vào cơ sở dữ liệu.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FR-1.2 (Đăng nhập hệ thống):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Xác thực Email và Mật khẩu bằng password_verify.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FR-1.3 (Quản lý Phiên đăng nhập):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Khởi tạo Session lưu user_id, user_name, user_role.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FR-1.4 (Chốt chặn bảo mật - Middleware):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Kiểm tra bảo mật, trả về lỗi 401, 403 hoặc 405 nếu vi phạm.</a:t>
            </a:r>
          </a:p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FR-1.5 (Cập nhật tên và mật khẩu):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Cho phép cập nhật họ tên và mật khẩu (mật khẩu được mã hóa trên Database).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3502" y="3589009"/>
            <a:ext cx="9461426" cy="6278946"/>
          </a:xfrm>
          <a:custGeom>
            <a:avLst/>
            <a:gdLst/>
            <a:ahLst/>
            <a:cxnLst/>
            <a:rect l="l" t="t" r="r" b="b"/>
            <a:pathLst>
              <a:path w="9461426" h="6278946">
                <a:moveTo>
                  <a:pt x="0" y="0"/>
                </a:moveTo>
                <a:lnTo>
                  <a:pt x="9461426" y="0"/>
                </a:lnTo>
                <a:lnTo>
                  <a:pt x="9461426" y="6278946"/>
                </a:lnTo>
                <a:lnTo>
                  <a:pt x="0" y="627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120993">
            <a:off x="13794776" y="8152379"/>
            <a:ext cx="3383740" cy="3845160"/>
          </a:xfrm>
          <a:custGeom>
            <a:avLst/>
            <a:gdLst/>
            <a:ahLst/>
            <a:cxnLst/>
            <a:rect l="l" t="t" r="r" b="b"/>
            <a:pathLst>
              <a:path w="3383740" h="3845160">
                <a:moveTo>
                  <a:pt x="0" y="0"/>
                </a:moveTo>
                <a:lnTo>
                  <a:pt x="3383740" y="0"/>
                </a:lnTo>
                <a:lnTo>
                  <a:pt x="3383740" y="3845160"/>
                </a:lnTo>
                <a:lnTo>
                  <a:pt x="0" y="3845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191152" y="3291020"/>
            <a:ext cx="9905695" cy="5809570"/>
            <a:chOff x="0" y="0"/>
            <a:chExt cx="2608907" cy="15300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08907" cy="1530092"/>
            </a:xfrm>
            <a:custGeom>
              <a:avLst/>
              <a:gdLst/>
              <a:ahLst/>
              <a:cxnLst/>
              <a:rect l="l" t="t" r="r" b="b"/>
              <a:pathLst>
                <a:path w="2608907" h="1530092">
                  <a:moveTo>
                    <a:pt x="11723" y="0"/>
                  </a:moveTo>
                  <a:lnTo>
                    <a:pt x="2597184" y="0"/>
                  </a:lnTo>
                  <a:cubicBezTo>
                    <a:pt x="2603659" y="0"/>
                    <a:pt x="2608907" y="5249"/>
                    <a:pt x="2608907" y="11723"/>
                  </a:cubicBezTo>
                  <a:lnTo>
                    <a:pt x="2608907" y="1518369"/>
                  </a:lnTo>
                  <a:cubicBezTo>
                    <a:pt x="2608907" y="1524844"/>
                    <a:pt x="2603659" y="1530092"/>
                    <a:pt x="2597184" y="1530092"/>
                  </a:cubicBezTo>
                  <a:lnTo>
                    <a:pt x="11723" y="1530092"/>
                  </a:lnTo>
                  <a:cubicBezTo>
                    <a:pt x="5249" y="1530092"/>
                    <a:pt x="0" y="1524844"/>
                    <a:pt x="0" y="1518369"/>
                  </a:cubicBezTo>
                  <a:lnTo>
                    <a:pt x="0" y="11723"/>
                  </a:lnTo>
                  <a:cubicBezTo>
                    <a:pt x="0" y="5249"/>
                    <a:pt x="5249" y="0"/>
                    <a:pt x="11723" y="0"/>
                  </a:cubicBezTo>
                  <a:close/>
                </a:path>
              </a:pathLst>
            </a:custGeom>
            <a:solidFill>
              <a:srgbClr val="D4E84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608907" cy="1577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7693203">
            <a:off x="14962166" y="226604"/>
            <a:ext cx="3383740" cy="3845160"/>
          </a:xfrm>
          <a:custGeom>
            <a:avLst/>
            <a:gdLst/>
            <a:ahLst/>
            <a:cxnLst/>
            <a:rect l="l" t="t" r="r" b="b"/>
            <a:pathLst>
              <a:path w="3383740" h="3845160">
                <a:moveTo>
                  <a:pt x="0" y="0"/>
                </a:moveTo>
                <a:lnTo>
                  <a:pt x="3383740" y="0"/>
                </a:lnTo>
                <a:lnTo>
                  <a:pt x="3383740" y="3845159"/>
                </a:lnTo>
                <a:lnTo>
                  <a:pt x="0" y="3845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598812">
            <a:off x="1133459" y="3504761"/>
            <a:ext cx="3559805" cy="3029071"/>
          </a:xfrm>
          <a:custGeom>
            <a:avLst/>
            <a:gdLst/>
            <a:ahLst/>
            <a:cxnLst/>
            <a:rect l="l" t="t" r="r" b="b"/>
            <a:pathLst>
              <a:path w="3559805" h="3029071">
                <a:moveTo>
                  <a:pt x="0" y="0"/>
                </a:moveTo>
                <a:lnTo>
                  <a:pt x="3559806" y="0"/>
                </a:lnTo>
                <a:lnTo>
                  <a:pt x="3559806" y="3029071"/>
                </a:lnTo>
                <a:lnTo>
                  <a:pt x="0" y="302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4624" y="5555495"/>
            <a:ext cx="5318057" cy="4312460"/>
          </a:xfrm>
          <a:custGeom>
            <a:avLst/>
            <a:gdLst/>
            <a:ahLst/>
            <a:cxnLst/>
            <a:rect l="l" t="t" r="r" b="b"/>
            <a:pathLst>
              <a:path w="5318057" h="4312460">
                <a:moveTo>
                  <a:pt x="0" y="0"/>
                </a:moveTo>
                <a:lnTo>
                  <a:pt x="5318057" y="0"/>
                </a:lnTo>
                <a:lnTo>
                  <a:pt x="5318057" y="4312460"/>
                </a:lnTo>
                <a:lnTo>
                  <a:pt x="0" y="4312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0" y="114573"/>
            <a:ext cx="9512907" cy="1252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19"/>
              </a:lnSpc>
              <a:spcBef>
                <a:spcPct val="0"/>
              </a:spcBef>
            </a:pPr>
            <a:r>
              <a:rPr lang="en-US" sz="7299" b="1" spc="-27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ĐẶC TẢ YÊU CẦU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4624" y="1281706"/>
            <a:ext cx="10528859" cy="1801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-192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2.QUẢN LÝ CỦA ADMIN (ADMIN DASHBOARD)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04605" y="3541384"/>
            <a:ext cx="9392243" cy="492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FR-2.1 (Xem danh sách người dùng):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Hiển thị họ và tên, email, role của tất cả tài khoản trong hệ thống.</a:t>
            </a:r>
          </a:p>
          <a:p>
            <a:pPr marL="604519" lvl="1" indent="-302260" algn="just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FR-2.2 (Thêm tài khoản mới):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Admin thêm tài khoản bằng pop-up, nhập họ và tên, email, role, password rồi Xác nhận hoặc Hủy.</a:t>
            </a:r>
          </a:p>
          <a:p>
            <a:pPr marL="604519" lvl="1" indent="-302260" algn="just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FR-2.3 (Cập nhật tài khoản):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Admin sửa thông tin tài khoản bằng pop-up, nhập họ và tên, email, role, password rồi Lưu hoặc Hủy.</a:t>
            </a:r>
          </a:p>
          <a:p>
            <a:pPr marL="604519" lvl="1" indent="-302260" algn="just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FR-2.4 (Xóa tài khoản):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Admin xóa tài khoản bằng nút Xóa, xác nhận qua pop-up Ok hoặc Hủy.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93652" y="3589009"/>
            <a:ext cx="9773350" cy="6485950"/>
          </a:xfrm>
          <a:custGeom>
            <a:avLst/>
            <a:gdLst/>
            <a:ahLst/>
            <a:cxnLst/>
            <a:rect l="l" t="t" r="r" b="b"/>
            <a:pathLst>
              <a:path w="9773350" h="6485950">
                <a:moveTo>
                  <a:pt x="0" y="0"/>
                </a:moveTo>
                <a:lnTo>
                  <a:pt x="9773350" y="0"/>
                </a:lnTo>
                <a:lnTo>
                  <a:pt x="9773350" y="6485950"/>
                </a:lnTo>
                <a:lnTo>
                  <a:pt x="0" y="6485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120993">
            <a:off x="13794776" y="8152379"/>
            <a:ext cx="3383740" cy="3845160"/>
          </a:xfrm>
          <a:custGeom>
            <a:avLst/>
            <a:gdLst/>
            <a:ahLst/>
            <a:cxnLst/>
            <a:rect l="l" t="t" r="r" b="b"/>
            <a:pathLst>
              <a:path w="3383740" h="3845160">
                <a:moveTo>
                  <a:pt x="0" y="0"/>
                </a:moveTo>
                <a:lnTo>
                  <a:pt x="3383740" y="0"/>
                </a:lnTo>
                <a:lnTo>
                  <a:pt x="3383740" y="3845160"/>
                </a:lnTo>
                <a:lnTo>
                  <a:pt x="0" y="3845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191152" y="3291020"/>
            <a:ext cx="10045565" cy="5967280"/>
            <a:chOff x="0" y="0"/>
            <a:chExt cx="2645746" cy="15716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45745" cy="1571629"/>
            </a:xfrm>
            <a:custGeom>
              <a:avLst/>
              <a:gdLst/>
              <a:ahLst/>
              <a:cxnLst/>
              <a:rect l="l" t="t" r="r" b="b"/>
              <a:pathLst>
                <a:path w="2645745" h="1571629">
                  <a:moveTo>
                    <a:pt x="11560" y="0"/>
                  </a:moveTo>
                  <a:lnTo>
                    <a:pt x="2634185" y="0"/>
                  </a:lnTo>
                  <a:cubicBezTo>
                    <a:pt x="2637251" y="0"/>
                    <a:pt x="2640192" y="1218"/>
                    <a:pt x="2642360" y="3386"/>
                  </a:cubicBezTo>
                  <a:cubicBezTo>
                    <a:pt x="2644528" y="5554"/>
                    <a:pt x="2645745" y="8494"/>
                    <a:pt x="2645745" y="11560"/>
                  </a:cubicBezTo>
                  <a:lnTo>
                    <a:pt x="2645745" y="1560069"/>
                  </a:lnTo>
                  <a:cubicBezTo>
                    <a:pt x="2645745" y="1566454"/>
                    <a:pt x="2640570" y="1571629"/>
                    <a:pt x="2634185" y="1571629"/>
                  </a:cubicBezTo>
                  <a:lnTo>
                    <a:pt x="11560" y="1571629"/>
                  </a:lnTo>
                  <a:cubicBezTo>
                    <a:pt x="8494" y="1571629"/>
                    <a:pt x="5554" y="1570412"/>
                    <a:pt x="3386" y="1568244"/>
                  </a:cubicBezTo>
                  <a:cubicBezTo>
                    <a:pt x="1218" y="1566076"/>
                    <a:pt x="0" y="1563135"/>
                    <a:pt x="0" y="1560069"/>
                  </a:cubicBezTo>
                  <a:lnTo>
                    <a:pt x="0" y="11560"/>
                  </a:lnTo>
                  <a:cubicBezTo>
                    <a:pt x="0" y="8494"/>
                    <a:pt x="1218" y="5554"/>
                    <a:pt x="3386" y="3386"/>
                  </a:cubicBezTo>
                  <a:cubicBezTo>
                    <a:pt x="5554" y="1218"/>
                    <a:pt x="8494" y="0"/>
                    <a:pt x="11560" y="0"/>
                  </a:cubicBezTo>
                  <a:close/>
                </a:path>
              </a:pathLst>
            </a:custGeom>
            <a:solidFill>
              <a:srgbClr val="D4E84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645746" cy="1619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7693203">
            <a:off x="14962166" y="226604"/>
            <a:ext cx="3383740" cy="3845160"/>
          </a:xfrm>
          <a:custGeom>
            <a:avLst/>
            <a:gdLst/>
            <a:ahLst/>
            <a:cxnLst/>
            <a:rect l="l" t="t" r="r" b="b"/>
            <a:pathLst>
              <a:path w="3383740" h="3845160">
                <a:moveTo>
                  <a:pt x="0" y="0"/>
                </a:moveTo>
                <a:lnTo>
                  <a:pt x="3383740" y="0"/>
                </a:lnTo>
                <a:lnTo>
                  <a:pt x="3383740" y="3845159"/>
                </a:lnTo>
                <a:lnTo>
                  <a:pt x="0" y="3845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598812">
            <a:off x="1133459" y="3504761"/>
            <a:ext cx="3559805" cy="3029071"/>
          </a:xfrm>
          <a:custGeom>
            <a:avLst/>
            <a:gdLst/>
            <a:ahLst/>
            <a:cxnLst/>
            <a:rect l="l" t="t" r="r" b="b"/>
            <a:pathLst>
              <a:path w="3559805" h="3029071">
                <a:moveTo>
                  <a:pt x="0" y="0"/>
                </a:moveTo>
                <a:lnTo>
                  <a:pt x="3559806" y="0"/>
                </a:lnTo>
                <a:lnTo>
                  <a:pt x="3559806" y="3029071"/>
                </a:lnTo>
                <a:lnTo>
                  <a:pt x="0" y="302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4624" y="5555495"/>
            <a:ext cx="5318057" cy="4312460"/>
          </a:xfrm>
          <a:custGeom>
            <a:avLst/>
            <a:gdLst/>
            <a:ahLst/>
            <a:cxnLst/>
            <a:rect l="l" t="t" r="r" b="b"/>
            <a:pathLst>
              <a:path w="5318057" h="4312460">
                <a:moveTo>
                  <a:pt x="0" y="0"/>
                </a:moveTo>
                <a:lnTo>
                  <a:pt x="5318057" y="0"/>
                </a:lnTo>
                <a:lnTo>
                  <a:pt x="5318057" y="4312460"/>
                </a:lnTo>
                <a:lnTo>
                  <a:pt x="0" y="4312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0" y="114573"/>
            <a:ext cx="9512907" cy="1252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19"/>
              </a:lnSpc>
              <a:spcBef>
                <a:spcPct val="0"/>
              </a:spcBef>
            </a:pPr>
            <a:r>
              <a:rPr lang="en-US" sz="7299" b="1" spc="-27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ĐẶC TẢ YÊU CẦU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4624" y="1281706"/>
            <a:ext cx="9577460" cy="1801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-192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KHÓA HỌC &amp; NỘI DUNG (COURSES &amp; CONTENT)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6453" y="3538445"/>
            <a:ext cx="9238292" cy="542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FR-3.1 (Hiển thị danh sách khóa học):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Hiển thị Tiêu đề, Mô tả, Ảnh đại diện (Thumbnail) và thanh tiến trình.</a:t>
            </a:r>
          </a:p>
          <a:p>
            <a:pPr marL="604519" lvl="1" indent="-302260" algn="just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FR-3.2 (Cấu trúc bài học - Units):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Hiển thị danh sách Units và thanh tiến trình theo thứ tự thiết kế (order_index).</a:t>
            </a:r>
          </a:p>
          <a:p>
            <a:pPr marL="604519" lvl="1" indent="-302260" algn="just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FR-3.3 (Trình phát bài giảng - Videos):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Hiển thị đúng tiêu đề và hỗ trợ phát trực tiếp ổn định.</a:t>
            </a:r>
          </a:p>
          <a:p>
            <a:pPr marL="604519" lvl="1" indent="-302260" algn="just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FR-3.4 (Tải tài liệu đính kèm - Documents):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Cho phép xem và tải tài liệu (PDF) của Unit thông qua đường dẫn lưu trữ an toàn.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93652" y="3589009"/>
            <a:ext cx="10197820" cy="6767644"/>
          </a:xfrm>
          <a:custGeom>
            <a:avLst/>
            <a:gdLst/>
            <a:ahLst/>
            <a:cxnLst/>
            <a:rect l="l" t="t" r="r" b="b"/>
            <a:pathLst>
              <a:path w="10197820" h="6767644">
                <a:moveTo>
                  <a:pt x="0" y="0"/>
                </a:moveTo>
                <a:lnTo>
                  <a:pt x="10197820" y="0"/>
                </a:lnTo>
                <a:lnTo>
                  <a:pt x="10197820" y="6767644"/>
                </a:lnTo>
                <a:lnTo>
                  <a:pt x="0" y="6767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191152" y="3291020"/>
            <a:ext cx="10265289" cy="6431567"/>
            <a:chOff x="0" y="0"/>
            <a:chExt cx="2703615" cy="16939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3615" cy="1693911"/>
            </a:xfrm>
            <a:custGeom>
              <a:avLst/>
              <a:gdLst/>
              <a:ahLst/>
              <a:cxnLst/>
              <a:rect l="l" t="t" r="r" b="b"/>
              <a:pathLst>
                <a:path w="2703615" h="1693911">
                  <a:moveTo>
                    <a:pt x="11313" y="0"/>
                  </a:moveTo>
                  <a:lnTo>
                    <a:pt x="2692303" y="0"/>
                  </a:lnTo>
                  <a:cubicBezTo>
                    <a:pt x="2698550" y="0"/>
                    <a:pt x="2703615" y="5065"/>
                    <a:pt x="2703615" y="11313"/>
                  </a:cubicBezTo>
                  <a:lnTo>
                    <a:pt x="2703615" y="1682598"/>
                  </a:lnTo>
                  <a:cubicBezTo>
                    <a:pt x="2703615" y="1688846"/>
                    <a:pt x="2698550" y="1693911"/>
                    <a:pt x="2692303" y="1693911"/>
                  </a:cubicBezTo>
                  <a:lnTo>
                    <a:pt x="11313" y="1693911"/>
                  </a:lnTo>
                  <a:cubicBezTo>
                    <a:pt x="5065" y="1693911"/>
                    <a:pt x="0" y="1688846"/>
                    <a:pt x="0" y="1682598"/>
                  </a:cubicBezTo>
                  <a:lnTo>
                    <a:pt x="0" y="11313"/>
                  </a:lnTo>
                  <a:cubicBezTo>
                    <a:pt x="0" y="5065"/>
                    <a:pt x="5065" y="0"/>
                    <a:pt x="11313" y="0"/>
                  </a:cubicBezTo>
                  <a:close/>
                </a:path>
              </a:pathLst>
            </a:custGeom>
            <a:solidFill>
              <a:srgbClr val="D4E84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703615" cy="1741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7693203">
            <a:off x="14962166" y="226604"/>
            <a:ext cx="3383740" cy="3845160"/>
          </a:xfrm>
          <a:custGeom>
            <a:avLst/>
            <a:gdLst/>
            <a:ahLst/>
            <a:cxnLst/>
            <a:rect l="l" t="t" r="r" b="b"/>
            <a:pathLst>
              <a:path w="3383740" h="3845160">
                <a:moveTo>
                  <a:pt x="0" y="0"/>
                </a:moveTo>
                <a:lnTo>
                  <a:pt x="3383740" y="0"/>
                </a:lnTo>
                <a:lnTo>
                  <a:pt x="3383740" y="3845159"/>
                </a:lnTo>
                <a:lnTo>
                  <a:pt x="0" y="3845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120993">
            <a:off x="14573896" y="7896543"/>
            <a:ext cx="3213836" cy="3652086"/>
          </a:xfrm>
          <a:custGeom>
            <a:avLst/>
            <a:gdLst/>
            <a:ahLst/>
            <a:cxnLst/>
            <a:rect l="l" t="t" r="r" b="b"/>
            <a:pathLst>
              <a:path w="3213836" h="3652086">
                <a:moveTo>
                  <a:pt x="0" y="0"/>
                </a:moveTo>
                <a:lnTo>
                  <a:pt x="3213835" y="0"/>
                </a:lnTo>
                <a:lnTo>
                  <a:pt x="3213835" y="3652086"/>
                </a:lnTo>
                <a:lnTo>
                  <a:pt x="0" y="3652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598812">
            <a:off x="1133459" y="3504761"/>
            <a:ext cx="3559805" cy="3029071"/>
          </a:xfrm>
          <a:custGeom>
            <a:avLst/>
            <a:gdLst/>
            <a:ahLst/>
            <a:cxnLst/>
            <a:rect l="l" t="t" r="r" b="b"/>
            <a:pathLst>
              <a:path w="3559805" h="3029071">
                <a:moveTo>
                  <a:pt x="0" y="0"/>
                </a:moveTo>
                <a:lnTo>
                  <a:pt x="3559806" y="0"/>
                </a:lnTo>
                <a:lnTo>
                  <a:pt x="3559806" y="3029071"/>
                </a:lnTo>
                <a:lnTo>
                  <a:pt x="0" y="302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4624" y="5555495"/>
            <a:ext cx="5318057" cy="4312460"/>
          </a:xfrm>
          <a:custGeom>
            <a:avLst/>
            <a:gdLst/>
            <a:ahLst/>
            <a:cxnLst/>
            <a:rect l="l" t="t" r="r" b="b"/>
            <a:pathLst>
              <a:path w="5318057" h="4312460">
                <a:moveTo>
                  <a:pt x="0" y="0"/>
                </a:moveTo>
                <a:lnTo>
                  <a:pt x="5318057" y="0"/>
                </a:lnTo>
                <a:lnTo>
                  <a:pt x="5318057" y="4312460"/>
                </a:lnTo>
                <a:lnTo>
                  <a:pt x="0" y="4312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0" y="114573"/>
            <a:ext cx="9512907" cy="1252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19"/>
              </a:lnSpc>
              <a:spcBef>
                <a:spcPct val="0"/>
              </a:spcBef>
            </a:pPr>
            <a:r>
              <a:rPr lang="en-US" sz="7299" b="1" spc="-27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ĐẶC TẢ YÊU CẦU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0" y="1205573"/>
            <a:ext cx="9965067" cy="1801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-192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4.BÀI TẬP TRẮC NGHIỆM (QUIZZES)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6453" y="3450594"/>
            <a:ext cx="9238292" cy="592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FR-4.1 (Tải đề bài tập):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Mỗi Unit tích hợp một bài trắc nghiệm, hệ thống tự động tải danh sách câu hỏi từ Database.</a:t>
            </a:r>
          </a:p>
          <a:p>
            <a:pPr marL="604519" lvl="1" indent="-302260" algn="just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FR-4.2 (Lựa chọn đáp án):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Hiển thị câu hỏi với 4 lựa chọn (A, B, C, D), học sinh chỉ được chọn 1 đáp án.</a:t>
            </a:r>
          </a:p>
          <a:p>
            <a:pPr marL="604519" lvl="1" indent="-302260" algn="just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FR-4.3 (Nộp bài &amp; Chấm điểm tự động):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Backend đối chiếu đáp án đã chọn với trường is_correct = 1 trong Database để tính điểm theo thang điểm 10.</a:t>
            </a:r>
          </a:p>
          <a:p>
            <a:pPr marL="604519" lvl="1" indent="-302260" algn="just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FR-4.4 (Lưu lịch sử bài làm):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Ghi nhận lượt làm bài vào bảng user_quiz_attempts gồm điểm số và trạng thái Đạt/Không Đạt (is_passed = 1 nếu điểm ≥ 50% số điểm tối đa).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35967" y="2217305"/>
            <a:ext cx="11060881" cy="7340403"/>
          </a:xfrm>
          <a:custGeom>
            <a:avLst/>
            <a:gdLst/>
            <a:ahLst/>
            <a:cxnLst/>
            <a:rect l="l" t="t" r="r" b="b"/>
            <a:pathLst>
              <a:path w="11060881" h="7340403">
                <a:moveTo>
                  <a:pt x="0" y="0"/>
                </a:moveTo>
                <a:lnTo>
                  <a:pt x="11060881" y="0"/>
                </a:lnTo>
                <a:lnTo>
                  <a:pt x="11060881" y="7340403"/>
                </a:lnTo>
                <a:lnTo>
                  <a:pt x="0" y="73404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120993">
            <a:off x="14573896" y="7896543"/>
            <a:ext cx="3213836" cy="3652086"/>
          </a:xfrm>
          <a:custGeom>
            <a:avLst/>
            <a:gdLst/>
            <a:ahLst/>
            <a:cxnLst/>
            <a:rect l="l" t="t" r="r" b="b"/>
            <a:pathLst>
              <a:path w="3213836" h="3652086">
                <a:moveTo>
                  <a:pt x="0" y="0"/>
                </a:moveTo>
                <a:lnTo>
                  <a:pt x="3213835" y="0"/>
                </a:lnTo>
                <a:lnTo>
                  <a:pt x="3213835" y="3652086"/>
                </a:lnTo>
                <a:lnTo>
                  <a:pt x="0" y="3652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240438" y="3007069"/>
            <a:ext cx="11623580" cy="7060635"/>
            <a:chOff x="0" y="0"/>
            <a:chExt cx="3061355" cy="18595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61355" cy="1859591"/>
            </a:xfrm>
            <a:custGeom>
              <a:avLst/>
              <a:gdLst/>
              <a:ahLst/>
              <a:cxnLst/>
              <a:rect l="l" t="t" r="r" b="b"/>
              <a:pathLst>
                <a:path w="3061355" h="1859591">
                  <a:moveTo>
                    <a:pt x="9991" y="0"/>
                  </a:moveTo>
                  <a:lnTo>
                    <a:pt x="3051364" y="0"/>
                  </a:lnTo>
                  <a:cubicBezTo>
                    <a:pt x="3056882" y="0"/>
                    <a:pt x="3061355" y="4473"/>
                    <a:pt x="3061355" y="9991"/>
                  </a:cubicBezTo>
                  <a:lnTo>
                    <a:pt x="3061355" y="1849600"/>
                  </a:lnTo>
                  <a:cubicBezTo>
                    <a:pt x="3061355" y="1855118"/>
                    <a:pt x="3056882" y="1859591"/>
                    <a:pt x="3051364" y="1859591"/>
                  </a:cubicBezTo>
                  <a:lnTo>
                    <a:pt x="9991" y="1859591"/>
                  </a:lnTo>
                  <a:cubicBezTo>
                    <a:pt x="4473" y="1859591"/>
                    <a:pt x="0" y="1855118"/>
                    <a:pt x="0" y="1849600"/>
                  </a:cubicBezTo>
                  <a:lnTo>
                    <a:pt x="0" y="9991"/>
                  </a:lnTo>
                  <a:cubicBezTo>
                    <a:pt x="0" y="4473"/>
                    <a:pt x="4473" y="0"/>
                    <a:pt x="9991" y="0"/>
                  </a:cubicBezTo>
                  <a:close/>
                </a:path>
              </a:pathLst>
            </a:custGeom>
            <a:solidFill>
              <a:srgbClr val="D4E84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061355" cy="1907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7693203">
            <a:off x="14962166" y="226604"/>
            <a:ext cx="3383740" cy="3845160"/>
          </a:xfrm>
          <a:custGeom>
            <a:avLst/>
            <a:gdLst/>
            <a:ahLst/>
            <a:cxnLst/>
            <a:rect l="l" t="t" r="r" b="b"/>
            <a:pathLst>
              <a:path w="3383740" h="3845160">
                <a:moveTo>
                  <a:pt x="0" y="0"/>
                </a:moveTo>
                <a:lnTo>
                  <a:pt x="3383740" y="0"/>
                </a:lnTo>
                <a:lnTo>
                  <a:pt x="3383740" y="3845159"/>
                </a:lnTo>
                <a:lnTo>
                  <a:pt x="0" y="3845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598812">
            <a:off x="1133459" y="3504761"/>
            <a:ext cx="3559805" cy="3029071"/>
          </a:xfrm>
          <a:custGeom>
            <a:avLst/>
            <a:gdLst/>
            <a:ahLst/>
            <a:cxnLst/>
            <a:rect l="l" t="t" r="r" b="b"/>
            <a:pathLst>
              <a:path w="3559805" h="3029071">
                <a:moveTo>
                  <a:pt x="0" y="0"/>
                </a:moveTo>
                <a:lnTo>
                  <a:pt x="3559806" y="0"/>
                </a:lnTo>
                <a:lnTo>
                  <a:pt x="3559806" y="3029071"/>
                </a:lnTo>
                <a:lnTo>
                  <a:pt x="0" y="302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4624" y="5555495"/>
            <a:ext cx="5318057" cy="4312460"/>
          </a:xfrm>
          <a:custGeom>
            <a:avLst/>
            <a:gdLst/>
            <a:ahLst/>
            <a:cxnLst/>
            <a:rect l="l" t="t" r="r" b="b"/>
            <a:pathLst>
              <a:path w="5318057" h="4312460">
                <a:moveTo>
                  <a:pt x="0" y="0"/>
                </a:moveTo>
                <a:lnTo>
                  <a:pt x="5318057" y="0"/>
                </a:lnTo>
                <a:lnTo>
                  <a:pt x="5318057" y="4312460"/>
                </a:lnTo>
                <a:lnTo>
                  <a:pt x="0" y="4312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0" y="114573"/>
            <a:ext cx="9512907" cy="1252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19"/>
              </a:lnSpc>
              <a:spcBef>
                <a:spcPct val="0"/>
              </a:spcBef>
            </a:pPr>
            <a:r>
              <a:rPr lang="en-US" sz="7299" b="1" spc="-27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ĐẶC TẢ YÊU CẦU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4624" y="1205573"/>
            <a:ext cx="12361182" cy="1801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-192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5.TIẾN TRÌNH HỌC TẬP (PROGRESS TRACKING)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96654" y="3142303"/>
            <a:ext cx="10756383" cy="6415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FR-5.1 (Ghi nhận trạng thái xem Video):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Khi xem hết video, hệ thống gửi request ngầm (AJAX/Fetch) cập nhật is_watched = 1.</a:t>
            </a:r>
          </a:p>
          <a:p>
            <a:pPr marL="604519" lvl="1" indent="-302260" algn="just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FR-5.2 (Điều kiện hoàn thành một Unit):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Unit hoàn thành 100% khi xem xong video (is_watched = 1) và làm bài trắc nghiệm đạt (is_passed = 1).</a:t>
            </a:r>
          </a:p>
          <a:p>
            <a:pPr marL="604519" lvl="1" indent="-302260" algn="just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FR-5.3 (Tự động tính toán phần trăm tổng):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Sau khi hoàn thành video hoặc nộp bài đạt, hệ thống tính lại: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Tiến trình khóa học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= (Số Unit đã hoàn thành / Tổng số Unit của khóa học) × 100</a:t>
            </a:r>
          </a:p>
          <a:p>
            <a:pPr marL="604519" lvl="1" indent="-302260" algn="just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spc="-103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FR-5.4 (Cập nhật và hiển thị ProgressBar): </a:t>
            </a:r>
            <a:r>
              <a:rPr lang="en-US" sz="2799" spc="-1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Giá trị phần trăm được cập nhật vào bảng enrollments và hiển thị dưới dạng ProgressBar tại giao diện "Khóa học của tôi" của học sinh.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06874" y="2707923"/>
            <a:ext cx="12233297" cy="6550377"/>
          </a:xfrm>
          <a:custGeom>
            <a:avLst/>
            <a:gdLst/>
            <a:ahLst/>
            <a:cxnLst/>
            <a:rect l="l" t="t" r="r" b="b"/>
            <a:pathLst>
              <a:path w="12233297" h="6550377">
                <a:moveTo>
                  <a:pt x="0" y="0"/>
                </a:moveTo>
                <a:lnTo>
                  <a:pt x="12233297" y="0"/>
                </a:lnTo>
                <a:lnTo>
                  <a:pt x="12233297" y="6550377"/>
                </a:lnTo>
                <a:lnTo>
                  <a:pt x="0" y="6550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78" b="-8378"/>
            </a:stretch>
          </a:blip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8731740">
            <a:off x="14688332" y="2892904"/>
            <a:ext cx="3750981" cy="361969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718387" y="1095375"/>
            <a:ext cx="9610271" cy="1053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29"/>
              </a:lnSpc>
            </a:pPr>
            <a:r>
              <a:rPr lang="en-US" sz="7390" b="1" spc="-273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CẤU TRÚC WEBSITE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708136">
            <a:off x="306761" y="800755"/>
            <a:ext cx="8011497" cy="1755901"/>
            <a:chOff x="0" y="0"/>
            <a:chExt cx="1793428" cy="3930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93429" cy="393070"/>
            </a:xfrm>
            <a:custGeom>
              <a:avLst/>
              <a:gdLst/>
              <a:ahLst/>
              <a:cxnLst/>
              <a:rect l="l" t="t" r="r" b="b"/>
              <a:pathLst>
                <a:path w="1793429" h="393070">
                  <a:moveTo>
                    <a:pt x="13529" y="0"/>
                  </a:moveTo>
                  <a:lnTo>
                    <a:pt x="1779900" y="0"/>
                  </a:lnTo>
                  <a:cubicBezTo>
                    <a:pt x="1783488" y="0"/>
                    <a:pt x="1786929" y="1425"/>
                    <a:pt x="1789466" y="3963"/>
                  </a:cubicBezTo>
                  <a:cubicBezTo>
                    <a:pt x="1792003" y="6500"/>
                    <a:pt x="1793429" y="9941"/>
                    <a:pt x="1793429" y="13529"/>
                  </a:cubicBezTo>
                  <a:lnTo>
                    <a:pt x="1793429" y="379542"/>
                  </a:lnTo>
                  <a:cubicBezTo>
                    <a:pt x="1793429" y="383130"/>
                    <a:pt x="1792003" y="386571"/>
                    <a:pt x="1789466" y="389108"/>
                  </a:cubicBezTo>
                  <a:cubicBezTo>
                    <a:pt x="1786929" y="391645"/>
                    <a:pt x="1783488" y="393070"/>
                    <a:pt x="1779900" y="393070"/>
                  </a:cubicBezTo>
                  <a:lnTo>
                    <a:pt x="13529" y="393070"/>
                  </a:lnTo>
                  <a:cubicBezTo>
                    <a:pt x="9941" y="393070"/>
                    <a:pt x="6500" y="391645"/>
                    <a:pt x="3963" y="389108"/>
                  </a:cubicBezTo>
                  <a:cubicBezTo>
                    <a:pt x="1425" y="386571"/>
                    <a:pt x="0" y="383130"/>
                    <a:pt x="0" y="379542"/>
                  </a:cubicBezTo>
                  <a:lnTo>
                    <a:pt x="0" y="13529"/>
                  </a:lnTo>
                  <a:cubicBezTo>
                    <a:pt x="0" y="9941"/>
                    <a:pt x="1425" y="6500"/>
                    <a:pt x="3963" y="3963"/>
                  </a:cubicBezTo>
                  <a:cubicBezTo>
                    <a:pt x="6500" y="1425"/>
                    <a:pt x="9941" y="0"/>
                    <a:pt x="13529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93428" cy="431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09950">
            <a:off x="303878" y="786584"/>
            <a:ext cx="7849350" cy="1710779"/>
            <a:chOff x="0" y="0"/>
            <a:chExt cx="1757131" cy="3829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57131" cy="382970"/>
            </a:xfrm>
            <a:custGeom>
              <a:avLst/>
              <a:gdLst/>
              <a:ahLst/>
              <a:cxnLst/>
              <a:rect l="l" t="t" r="r" b="b"/>
              <a:pathLst>
                <a:path w="1757131" h="382970">
                  <a:moveTo>
                    <a:pt x="13808" y="0"/>
                  </a:moveTo>
                  <a:lnTo>
                    <a:pt x="1743322" y="0"/>
                  </a:lnTo>
                  <a:cubicBezTo>
                    <a:pt x="1746985" y="0"/>
                    <a:pt x="1750497" y="1455"/>
                    <a:pt x="1753087" y="4044"/>
                  </a:cubicBezTo>
                  <a:cubicBezTo>
                    <a:pt x="1755676" y="6634"/>
                    <a:pt x="1757131" y="10146"/>
                    <a:pt x="1757131" y="13808"/>
                  </a:cubicBezTo>
                  <a:lnTo>
                    <a:pt x="1757131" y="369161"/>
                  </a:lnTo>
                  <a:cubicBezTo>
                    <a:pt x="1757131" y="376787"/>
                    <a:pt x="1750949" y="382970"/>
                    <a:pt x="1743322" y="382970"/>
                  </a:cubicBezTo>
                  <a:lnTo>
                    <a:pt x="13808" y="382970"/>
                  </a:lnTo>
                  <a:cubicBezTo>
                    <a:pt x="6182" y="382970"/>
                    <a:pt x="0" y="376787"/>
                    <a:pt x="0" y="369161"/>
                  </a:cubicBezTo>
                  <a:lnTo>
                    <a:pt x="0" y="13808"/>
                  </a:lnTo>
                  <a:cubicBezTo>
                    <a:pt x="0" y="6182"/>
                    <a:pt x="6182" y="0"/>
                    <a:pt x="13808" y="0"/>
                  </a:cubicBezTo>
                  <a:close/>
                </a:path>
              </a:pathLst>
            </a:custGeom>
            <a:solidFill>
              <a:srgbClr val="D4E84E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33350"/>
              <a:ext cx="1757131" cy="516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239"/>
                </a:lnSpc>
              </a:pPr>
              <a:r>
                <a:rPr lang="en-US" sz="6599" b="1">
                  <a:solidFill>
                    <a:srgbClr val="00010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SƠ ĐỒ USECASE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188499" y="6981749"/>
            <a:ext cx="3585578" cy="3305251"/>
          </a:xfrm>
          <a:custGeom>
            <a:avLst/>
            <a:gdLst/>
            <a:ahLst/>
            <a:cxnLst/>
            <a:rect l="l" t="t" r="r" b="b"/>
            <a:pathLst>
              <a:path w="3585578" h="3305251">
                <a:moveTo>
                  <a:pt x="0" y="0"/>
                </a:moveTo>
                <a:lnTo>
                  <a:pt x="3585578" y="0"/>
                </a:lnTo>
                <a:lnTo>
                  <a:pt x="3585578" y="3305251"/>
                </a:lnTo>
                <a:lnTo>
                  <a:pt x="0" y="3305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38335">
            <a:off x="2145378" y="7393745"/>
            <a:ext cx="470734" cy="543916"/>
          </a:xfrm>
          <a:custGeom>
            <a:avLst/>
            <a:gdLst/>
            <a:ahLst/>
            <a:cxnLst/>
            <a:rect l="l" t="t" r="r" b="b"/>
            <a:pathLst>
              <a:path w="470734" h="543916">
                <a:moveTo>
                  <a:pt x="0" y="0"/>
                </a:moveTo>
                <a:lnTo>
                  <a:pt x="470734" y="0"/>
                </a:lnTo>
                <a:lnTo>
                  <a:pt x="470734" y="543916"/>
                </a:lnTo>
                <a:lnTo>
                  <a:pt x="0" y="5439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413145" y="168220"/>
            <a:ext cx="9153994" cy="9950561"/>
          </a:xfrm>
          <a:custGeom>
            <a:avLst/>
            <a:gdLst/>
            <a:ahLst/>
            <a:cxnLst/>
            <a:rect l="l" t="t" r="r" b="b"/>
            <a:pathLst>
              <a:path w="9153994" h="9950561">
                <a:moveTo>
                  <a:pt x="0" y="0"/>
                </a:moveTo>
                <a:lnTo>
                  <a:pt x="9153994" y="0"/>
                </a:lnTo>
                <a:lnTo>
                  <a:pt x="9153994" y="9950560"/>
                </a:lnTo>
                <a:lnTo>
                  <a:pt x="0" y="9950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95" r="-3937" b="-1395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E8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6865" y="2447839"/>
            <a:ext cx="5164321" cy="1023148"/>
            <a:chOff x="0" y="0"/>
            <a:chExt cx="1156069" cy="2290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6069" cy="229039"/>
            </a:xfrm>
            <a:custGeom>
              <a:avLst/>
              <a:gdLst/>
              <a:ahLst/>
              <a:cxnLst/>
              <a:rect l="l" t="t" r="r" b="b"/>
              <a:pathLst>
                <a:path w="1156069" h="229039">
                  <a:moveTo>
                    <a:pt x="20988" y="0"/>
                  </a:moveTo>
                  <a:lnTo>
                    <a:pt x="1135081" y="0"/>
                  </a:lnTo>
                  <a:cubicBezTo>
                    <a:pt x="1140647" y="0"/>
                    <a:pt x="1145986" y="2211"/>
                    <a:pt x="1149922" y="6147"/>
                  </a:cubicBezTo>
                  <a:cubicBezTo>
                    <a:pt x="1153857" y="10083"/>
                    <a:pt x="1156069" y="15421"/>
                    <a:pt x="1156069" y="20988"/>
                  </a:cubicBezTo>
                  <a:lnTo>
                    <a:pt x="1156069" y="208051"/>
                  </a:lnTo>
                  <a:cubicBezTo>
                    <a:pt x="1156069" y="219642"/>
                    <a:pt x="1146672" y="229039"/>
                    <a:pt x="1135081" y="229039"/>
                  </a:cubicBezTo>
                  <a:lnTo>
                    <a:pt x="20988" y="229039"/>
                  </a:lnTo>
                  <a:cubicBezTo>
                    <a:pt x="15421" y="229039"/>
                    <a:pt x="10083" y="226827"/>
                    <a:pt x="6147" y="222891"/>
                  </a:cubicBezTo>
                  <a:cubicBezTo>
                    <a:pt x="2211" y="218956"/>
                    <a:pt x="0" y="213617"/>
                    <a:pt x="0" y="208051"/>
                  </a:cubicBezTo>
                  <a:lnTo>
                    <a:pt x="0" y="20988"/>
                  </a:lnTo>
                  <a:cubicBezTo>
                    <a:pt x="0" y="9396"/>
                    <a:pt x="9396" y="0"/>
                    <a:pt x="20988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56069" cy="267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961186" y="1028700"/>
            <a:ext cx="12326814" cy="8506778"/>
          </a:xfrm>
          <a:custGeom>
            <a:avLst/>
            <a:gdLst/>
            <a:ahLst/>
            <a:cxnLst/>
            <a:rect l="l" t="t" r="r" b="b"/>
            <a:pathLst>
              <a:path w="12326814" h="8506778">
                <a:moveTo>
                  <a:pt x="0" y="0"/>
                </a:moveTo>
                <a:lnTo>
                  <a:pt x="12326814" y="0"/>
                </a:lnTo>
                <a:lnTo>
                  <a:pt x="12326814" y="8506778"/>
                </a:lnTo>
                <a:lnTo>
                  <a:pt x="0" y="850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73" r="-2667" b="-3240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108280" y="2659303"/>
            <a:ext cx="4965808" cy="1046535"/>
            <a:chOff x="0" y="0"/>
            <a:chExt cx="1111630" cy="2342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11630" cy="234274"/>
            </a:xfrm>
            <a:custGeom>
              <a:avLst/>
              <a:gdLst/>
              <a:ahLst/>
              <a:cxnLst/>
              <a:rect l="l" t="t" r="r" b="b"/>
              <a:pathLst>
                <a:path w="1111630" h="234274">
                  <a:moveTo>
                    <a:pt x="21827" y="0"/>
                  </a:moveTo>
                  <a:lnTo>
                    <a:pt x="1089803" y="0"/>
                  </a:lnTo>
                  <a:cubicBezTo>
                    <a:pt x="1101858" y="0"/>
                    <a:pt x="1111630" y="9772"/>
                    <a:pt x="1111630" y="21827"/>
                  </a:cubicBezTo>
                  <a:lnTo>
                    <a:pt x="1111630" y="212447"/>
                  </a:lnTo>
                  <a:cubicBezTo>
                    <a:pt x="1111630" y="218236"/>
                    <a:pt x="1109331" y="223788"/>
                    <a:pt x="1105237" y="227881"/>
                  </a:cubicBezTo>
                  <a:cubicBezTo>
                    <a:pt x="1101144" y="231975"/>
                    <a:pt x="1095592" y="234274"/>
                    <a:pt x="1089803" y="234274"/>
                  </a:cubicBezTo>
                  <a:lnTo>
                    <a:pt x="21827" y="234274"/>
                  </a:lnTo>
                  <a:cubicBezTo>
                    <a:pt x="16038" y="234274"/>
                    <a:pt x="10486" y="231975"/>
                    <a:pt x="6393" y="227881"/>
                  </a:cubicBezTo>
                  <a:cubicBezTo>
                    <a:pt x="2300" y="223788"/>
                    <a:pt x="0" y="218236"/>
                    <a:pt x="0" y="212447"/>
                  </a:cubicBezTo>
                  <a:lnTo>
                    <a:pt x="0" y="21827"/>
                  </a:lnTo>
                  <a:cubicBezTo>
                    <a:pt x="0" y="16038"/>
                    <a:pt x="2300" y="10486"/>
                    <a:pt x="6393" y="6393"/>
                  </a:cubicBezTo>
                  <a:cubicBezTo>
                    <a:pt x="10486" y="2300"/>
                    <a:pt x="16038" y="0"/>
                    <a:pt x="218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111630" cy="300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 b="1">
                  <a:solidFill>
                    <a:srgbClr val="00010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Datamodel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0"/>
            <a:ext cx="4628098" cy="4114800"/>
          </a:xfrm>
          <a:custGeom>
            <a:avLst/>
            <a:gdLst/>
            <a:ahLst/>
            <a:cxnLst/>
            <a:rect l="l" t="t" r="r" b="b"/>
            <a:pathLst>
              <a:path w="4628098" h="4114800">
                <a:moveTo>
                  <a:pt x="0" y="0"/>
                </a:moveTo>
                <a:lnTo>
                  <a:pt x="4628098" y="0"/>
                </a:lnTo>
                <a:lnTo>
                  <a:pt x="46280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2591146">
            <a:off x="31119" y="7277917"/>
            <a:ext cx="3041950" cy="3456762"/>
          </a:xfrm>
          <a:custGeom>
            <a:avLst/>
            <a:gdLst/>
            <a:ahLst/>
            <a:cxnLst/>
            <a:rect l="l" t="t" r="r" b="b"/>
            <a:pathLst>
              <a:path w="3041950" h="3456762">
                <a:moveTo>
                  <a:pt x="0" y="0"/>
                </a:moveTo>
                <a:lnTo>
                  <a:pt x="3041950" y="0"/>
                </a:lnTo>
                <a:lnTo>
                  <a:pt x="3041950" y="3456762"/>
                </a:lnTo>
                <a:lnTo>
                  <a:pt x="0" y="34567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787894" y="5662859"/>
            <a:ext cx="3460016" cy="4114800"/>
          </a:xfrm>
          <a:custGeom>
            <a:avLst/>
            <a:gdLst/>
            <a:ahLst/>
            <a:cxnLst/>
            <a:rect l="l" t="t" r="r" b="b"/>
            <a:pathLst>
              <a:path w="3460016" h="4114800">
                <a:moveTo>
                  <a:pt x="0" y="0"/>
                </a:moveTo>
                <a:lnTo>
                  <a:pt x="3460016" y="0"/>
                </a:lnTo>
                <a:lnTo>
                  <a:pt x="34600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38335">
            <a:off x="7414580" y="6094875"/>
            <a:ext cx="1056357" cy="1220581"/>
          </a:xfrm>
          <a:custGeom>
            <a:avLst/>
            <a:gdLst/>
            <a:ahLst/>
            <a:cxnLst/>
            <a:rect l="l" t="t" r="r" b="b"/>
            <a:pathLst>
              <a:path w="1056357" h="1220581">
                <a:moveTo>
                  <a:pt x="0" y="0"/>
                </a:moveTo>
                <a:lnTo>
                  <a:pt x="1056357" y="0"/>
                </a:lnTo>
                <a:lnTo>
                  <a:pt x="1056357" y="1220580"/>
                </a:lnTo>
                <a:lnTo>
                  <a:pt x="0" y="1220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238335">
            <a:off x="3179345" y="552836"/>
            <a:ext cx="823678" cy="951729"/>
          </a:xfrm>
          <a:custGeom>
            <a:avLst/>
            <a:gdLst/>
            <a:ahLst/>
            <a:cxnLst/>
            <a:rect l="l" t="t" r="r" b="b"/>
            <a:pathLst>
              <a:path w="823678" h="951729">
                <a:moveTo>
                  <a:pt x="0" y="0"/>
                </a:moveTo>
                <a:lnTo>
                  <a:pt x="823678" y="0"/>
                </a:lnTo>
                <a:lnTo>
                  <a:pt x="823678" y="951728"/>
                </a:lnTo>
                <a:lnTo>
                  <a:pt x="0" y="951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31315">
            <a:off x="5386936" y="3960494"/>
            <a:ext cx="6820440" cy="2041866"/>
            <a:chOff x="0" y="0"/>
            <a:chExt cx="1526802" cy="4570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802" cy="457086"/>
            </a:xfrm>
            <a:custGeom>
              <a:avLst/>
              <a:gdLst/>
              <a:ahLst/>
              <a:cxnLst/>
              <a:rect l="l" t="t" r="r" b="b"/>
              <a:pathLst>
                <a:path w="1526802" h="457086">
                  <a:moveTo>
                    <a:pt x="15891" y="0"/>
                  </a:moveTo>
                  <a:lnTo>
                    <a:pt x="1510911" y="0"/>
                  </a:lnTo>
                  <a:cubicBezTo>
                    <a:pt x="1519687" y="0"/>
                    <a:pt x="1526802" y="7115"/>
                    <a:pt x="1526802" y="15891"/>
                  </a:cubicBezTo>
                  <a:lnTo>
                    <a:pt x="1526802" y="441194"/>
                  </a:lnTo>
                  <a:cubicBezTo>
                    <a:pt x="1526802" y="449971"/>
                    <a:pt x="1519687" y="457086"/>
                    <a:pt x="1510911" y="457086"/>
                  </a:cubicBezTo>
                  <a:lnTo>
                    <a:pt x="15891" y="457086"/>
                  </a:lnTo>
                  <a:cubicBezTo>
                    <a:pt x="7115" y="457086"/>
                    <a:pt x="0" y="449971"/>
                    <a:pt x="0" y="441194"/>
                  </a:cubicBezTo>
                  <a:lnTo>
                    <a:pt x="0" y="15891"/>
                  </a:lnTo>
                  <a:cubicBezTo>
                    <a:pt x="0" y="7115"/>
                    <a:pt x="7115" y="0"/>
                    <a:pt x="15891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26802" cy="495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31315">
            <a:off x="5178453" y="3716224"/>
            <a:ext cx="6820440" cy="2115976"/>
            <a:chOff x="0" y="0"/>
            <a:chExt cx="1526802" cy="4736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6802" cy="473676"/>
            </a:xfrm>
            <a:custGeom>
              <a:avLst/>
              <a:gdLst/>
              <a:ahLst/>
              <a:cxnLst/>
              <a:rect l="l" t="t" r="r" b="b"/>
              <a:pathLst>
                <a:path w="1526802" h="473676">
                  <a:moveTo>
                    <a:pt x="15891" y="0"/>
                  </a:moveTo>
                  <a:lnTo>
                    <a:pt x="1510911" y="0"/>
                  </a:lnTo>
                  <a:cubicBezTo>
                    <a:pt x="1519687" y="0"/>
                    <a:pt x="1526802" y="7115"/>
                    <a:pt x="1526802" y="15891"/>
                  </a:cubicBezTo>
                  <a:lnTo>
                    <a:pt x="1526802" y="457784"/>
                  </a:lnTo>
                  <a:cubicBezTo>
                    <a:pt x="1526802" y="461999"/>
                    <a:pt x="1525128" y="466041"/>
                    <a:pt x="1522148" y="469021"/>
                  </a:cubicBezTo>
                  <a:cubicBezTo>
                    <a:pt x="1519168" y="472001"/>
                    <a:pt x="1515125" y="473676"/>
                    <a:pt x="1510911" y="473676"/>
                  </a:cubicBezTo>
                  <a:lnTo>
                    <a:pt x="15891" y="473676"/>
                  </a:lnTo>
                  <a:cubicBezTo>
                    <a:pt x="7115" y="473676"/>
                    <a:pt x="0" y="466561"/>
                    <a:pt x="0" y="457784"/>
                  </a:cubicBezTo>
                  <a:lnTo>
                    <a:pt x="0" y="15891"/>
                  </a:lnTo>
                  <a:cubicBezTo>
                    <a:pt x="0" y="7115"/>
                    <a:pt x="7115" y="0"/>
                    <a:pt x="15891" y="0"/>
                  </a:cubicBezTo>
                  <a:close/>
                </a:path>
              </a:pathLst>
            </a:custGeom>
            <a:solidFill>
              <a:srgbClr val="D4E84E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80975"/>
              <a:ext cx="1526802" cy="654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579"/>
                </a:lnSpc>
              </a:pPr>
              <a:r>
                <a:rPr lang="en-US" sz="9699" b="1">
                  <a:solidFill>
                    <a:srgbClr val="00010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DEMO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216467">
            <a:off x="7867946" y="854333"/>
            <a:ext cx="4722959" cy="3829890"/>
          </a:xfrm>
          <a:custGeom>
            <a:avLst/>
            <a:gdLst/>
            <a:ahLst/>
            <a:cxnLst/>
            <a:rect l="l" t="t" r="r" b="b"/>
            <a:pathLst>
              <a:path w="4722959" h="3829890">
                <a:moveTo>
                  <a:pt x="0" y="0"/>
                </a:moveTo>
                <a:lnTo>
                  <a:pt x="4722959" y="0"/>
                </a:lnTo>
                <a:lnTo>
                  <a:pt x="4722959" y="3829891"/>
                </a:lnTo>
                <a:lnTo>
                  <a:pt x="0" y="38298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216467">
            <a:off x="7744697" y="762490"/>
            <a:ext cx="4722959" cy="3829890"/>
          </a:xfrm>
          <a:custGeom>
            <a:avLst/>
            <a:gdLst/>
            <a:ahLst/>
            <a:cxnLst/>
            <a:rect l="l" t="t" r="r" b="b"/>
            <a:pathLst>
              <a:path w="4722959" h="3829890">
                <a:moveTo>
                  <a:pt x="0" y="0"/>
                </a:moveTo>
                <a:lnTo>
                  <a:pt x="4722959" y="0"/>
                </a:lnTo>
                <a:lnTo>
                  <a:pt x="4722959" y="3829890"/>
                </a:lnTo>
                <a:lnTo>
                  <a:pt x="0" y="3829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1286188">
            <a:off x="8718795" y="1395708"/>
            <a:ext cx="745022" cy="860844"/>
          </a:xfrm>
          <a:custGeom>
            <a:avLst/>
            <a:gdLst/>
            <a:ahLst/>
            <a:cxnLst/>
            <a:rect l="l" t="t" r="r" b="b"/>
            <a:pathLst>
              <a:path w="745022" h="860844">
                <a:moveTo>
                  <a:pt x="0" y="0"/>
                </a:moveTo>
                <a:lnTo>
                  <a:pt x="745022" y="0"/>
                </a:lnTo>
                <a:lnTo>
                  <a:pt x="745022" y="860844"/>
                </a:lnTo>
                <a:lnTo>
                  <a:pt x="0" y="8608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120993">
            <a:off x="14915710" y="6941975"/>
            <a:ext cx="3102166" cy="3525189"/>
          </a:xfrm>
          <a:custGeom>
            <a:avLst/>
            <a:gdLst/>
            <a:ahLst/>
            <a:cxnLst/>
            <a:rect l="l" t="t" r="r" b="b"/>
            <a:pathLst>
              <a:path w="3102166" h="3525189">
                <a:moveTo>
                  <a:pt x="0" y="0"/>
                </a:moveTo>
                <a:lnTo>
                  <a:pt x="3102166" y="0"/>
                </a:lnTo>
                <a:lnTo>
                  <a:pt x="3102166" y="3525189"/>
                </a:lnTo>
                <a:lnTo>
                  <a:pt x="0" y="352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9583270">
            <a:off x="261363" y="-169600"/>
            <a:ext cx="3167402" cy="3599320"/>
          </a:xfrm>
          <a:custGeom>
            <a:avLst/>
            <a:gdLst/>
            <a:ahLst/>
            <a:cxnLst/>
            <a:rect l="l" t="t" r="r" b="b"/>
            <a:pathLst>
              <a:path w="3167402" h="3599320">
                <a:moveTo>
                  <a:pt x="0" y="0"/>
                </a:moveTo>
                <a:lnTo>
                  <a:pt x="3167401" y="0"/>
                </a:lnTo>
                <a:lnTo>
                  <a:pt x="3167401" y="3599320"/>
                </a:lnTo>
                <a:lnTo>
                  <a:pt x="0" y="35993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274090"/>
            <a:ext cx="9144000" cy="4554855"/>
          </a:xfrm>
          <a:custGeom>
            <a:avLst/>
            <a:gdLst/>
            <a:ahLst/>
            <a:cxnLst/>
            <a:rect l="l" t="t" r="r" b="b"/>
            <a:pathLst>
              <a:path w="9144000" h="4554855">
                <a:moveTo>
                  <a:pt x="0" y="0"/>
                </a:moveTo>
                <a:lnTo>
                  <a:pt x="9144000" y="0"/>
                </a:lnTo>
                <a:lnTo>
                  <a:pt x="9144000" y="4554855"/>
                </a:lnTo>
                <a:lnTo>
                  <a:pt x="0" y="4554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5828945"/>
            <a:ext cx="9144000" cy="4560570"/>
          </a:xfrm>
          <a:custGeom>
            <a:avLst/>
            <a:gdLst/>
            <a:ahLst/>
            <a:cxnLst/>
            <a:rect l="l" t="t" r="r" b="b"/>
            <a:pathLst>
              <a:path w="9144000" h="4560570">
                <a:moveTo>
                  <a:pt x="0" y="0"/>
                </a:moveTo>
                <a:lnTo>
                  <a:pt x="9144000" y="0"/>
                </a:lnTo>
                <a:lnTo>
                  <a:pt x="9144000" y="4560570"/>
                </a:lnTo>
                <a:lnTo>
                  <a:pt x="0" y="4560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1288378"/>
            <a:ext cx="9144000" cy="4526280"/>
          </a:xfrm>
          <a:custGeom>
            <a:avLst/>
            <a:gdLst/>
            <a:ahLst/>
            <a:cxnLst/>
            <a:rect l="l" t="t" r="r" b="b"/>
            <a:pathLst>
              <a:path w="9144000" h="4526280">
                <a:moveTo>
                  <a:pt x="0" y="0"/>
                </a:moveTo>
                <a:lnTo>
                  <a:pt x="9144000" y="0"/>
                </a:lnTo>
                <a:lnTo>
                  <a:pt x="9144000" y="4526280"/>
                </a:lnTo>
                <a:lnTo>
                  <a:pt x="0" y="4526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4000" y="5814658"/>
            <a:ext cx="9144000" cy="4531995"/>
          </a:xfrm>
          <a:custGeom>
            <a:avLst/>
            <a:gdLst/>
            <a:ahLst/>
            <a:cxnLst/>
            <a:rect l="l" t="t" r="r" b="b"/>
            <a:pathLst>
              <a:path w="9144000" h="4531995">
                <a:moveTo>
                  <a:pt x="0" y="0"/>
                </a:moveTo>
                <a:lnTo>
                  <a:pt x="9144000" y="0"/>
                </a:lnTo>
                <a:lnTo>
                  <a:pt x="9144000" y="4531995"/>
                </a:lnTo>
                <a:lnTo>
                  <a:pt x="0" y="45319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1179" y="64143"/>
            <a:ext cx="13061752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GIAO </a:t>
            </a:r>
            <a:r>
              <a:rPr lang="en-US" sz="45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DIỆN</a:t>
            </a:r>
            <a:r>
              <a:rPr lang="en-US" sz="45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WEB </a:t>
            </a:r>
            <a:r>
              <a:rPr lang="en-US" sz="45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VÀ</a:t>
            </a:r>
            <a:r>
              <a:rPr lang="en-US" sz="45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5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NỘI</a:t>
            </a:r>
            <a:r>
              <a:rPr lang="en-US" sz="45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DUNG </a:t>
            </a:r>
            <a:r>
              <a:rPr lang="en-US" sz="45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KHÓA</a:t>
            </a:r>
            <a:r>
              <a:rPr lang="en-US" sz="45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HỌC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94435"/>
            <a:ext cx="9144000" cy="4560570"/>
          </a:xfrm>
          <a:custGeom>
            <a:avLst/>
            <a:gdLst/>
            <a:ahLst/>
            <a:cxnLst/>
            <a:rect l="l" t="t" r="r" b="b"/>
            <a:pathLst>
              <a:path w="9144000" h="4560570">
                <a:moveTo>
                  <a:pt x="0" y="0"/>
                </a:moveTo>
                <a:lnTo>
                  <a:pt x="9144000" y="0"/>
                </a:lnTo>
                <a:lnTo>
                  <a:pt x="9144000" y="4560570"/>
                </a:lnTo>
                <a:lnTo>
                  <a:pt x="0" y="4560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5755005"/>
            <a:ext cx="9144000" cy="4531995"/>
          </a:xfrm>
          <a:custGeom>
            <a:avLst/>
            <a:gdLst/>
            <a:ahLst/>
            <a:cxnLst/>
            <a:rect l="l" t="t" r="r" b="b"/>
            <a:pathLst>
              <a:path w="9144000" h="4531995">
                <a:moveTo>
                  <a:pt x="0" y="0"/>
                </a:moveTo>
                <a:lnTo>
                  <a:pt x="9144000" y="0"/>
                </a:lnTo>
                <a:lnTo>
                  <a:pt x="9144000" y="4531995"/>
                </a:lnTo>
                <a:lnTo>
                  <a:pt x="0" y="45319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1194435"/>
            <a:ext cx="9132556" cy="4560570"/>
          </a:xfrm>
          <a:custGeom>
            <a:avLst/>
            <a:gdLst/>
            <a:ahLst/>
            <a:cxnLst/>
            <a:rect l="l" t="t" r="r" b="b"/>
            <a:pathLst>
              <a:path w="9132556" h="4560570">
                <a:moveTo>
                  <a:pt x="0" y="0"/>
                </a:moveTo>
                <a:lnTo>
                  <a:pt x="9132556" y="0"/>
                </a:lnTo>
                <a:lnTo>
                  <a:pt x="9132556" y="4560570"/>
                </a:lnTo>
                <a:lnTo>
                  <a:pt x="0" y="45605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4000" y="5755005"/>
            <a:ext cx="9075334" cy="4531995"/>
          </a:xfrm>
          <a:custGeom>
            <a:avLst/>
            <a:gdLst/>
            <a:ahLst/>
            <a:cxnLst/>
            <a:rect l="l" t="t" r="r" b="b"/>
            <a:pathLst>
              <a:path w="9075334" h="4531995">
                <a:moveTo>
                  <a:pt x="0" y="0"/>
                </a:moveTo>
                <a:lnTo>
                  <a:pt x="9075334" y="0"/>
                </a:lnTo>
                <a:lnTo>
                  <a:pt x="9075334" y="4531995"/>
                </a:lnTo>
                <a:lnTo>
                  <a:pt x="0" y="45319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6616" y="250188"/>
            <a:ext cx="7709059" cy="77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THÔNG TIN NGƯỜI DÙNG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2837" y="1183664"/>
            <a:ext cx="10656355" cy="5301537"/>
          </a:xfrm>
          <a:custGeom>
            <a:avLst/>
            <a:gdLst/>
            <a:ahLst/>
            <a:cxnLst/>
            <a:rect l="l" t="t" r="r" b="b"/>
            <a:pathLst>
              <a:path w="10656355" h="5301537">
                <a:moveTo>
                  <a:pt x="0" y="0"/>
                </a:moveTo>
                <a:lnTo>
                  <a:pt x="10656355" y="0"/>
                </a:lnTo>
                <a:lnTo>
                  <a:pt x="10656355" y="5301537"/>
                </a:lnTo>
                <a:lnTo>
                  <a:pt x="0" y="5301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1494" y="4593106"/>
            <a:ext cx="9406870" cy="4665194"/>
          </a:xfrm>
          <a:custGeom>
            <a:avLst/>
            <a:gdLst/>
            <a:ahLst/>
            <a:cxnLst/>
            <a:rect l="l" t="t" r="r" b="b"/>
            <a:pathLst>
              <a:path w="9406870" h="4665194">
                <a:moveTo>
                  <a:pt x="0" y="0"/>
                </a:moveTo>
                <a:lnTo>
                  <a:pt x="9406870" y="0"/>
                </a:lnTo>
                <a:lnTo>
                  <a:pt x="9406870" y="4665194"/>
                </a:lnTo>
                <a:lnTo>
                  <a:pt x="0" y="46651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6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2837" y="87275"/>
            <a:ext cx="6993493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BÀI TẬP TRẮC NGHIỆM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31315">
            <a:off x="5194274" y="738932"/>
            <a:ext cx="8330215" cy="1593989"/>
            <a:chOff x="0" y="0"/>
            <a:chExt cx="2388739" cy="4570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88739" cy="457086"/>
            </a:xfrm>
            <a:custGeom>
              <a:avLst/>
              <a:gdLst/>
              <a:ahLst/>
              <a:cxnLst/>
              <a:rect l="l" t="t" r="r" b="b"/>
              <a:pathLst>
                <a:path w="2388739" h="457086">
                  <a:moveTo>
                    <a:pt x="13011" y="0"/>
                  </a:moveTo>
                  <a:lnTo>
                    <a:pt x="2375728" y="0"/>
                  </a:lnTo>
                  <a:cubicBezTo>
                    <a:pt x="2382914" y="0"/>
                    <a:pt x="2388739" y="5825"/>
                    <a:pt x="2388739" y="13011"/>
                  </a:cubicBezTo>
                  <a:lnTo>
                    <a:pt x="2388739" y="444074"/>
                  </a:lnTo>
                  <a:cubicBezTo>
                    <a:pt x="2388739" y="451260"/>
                    <a:pt x="2382914" y="457086"/>
                    <a:pt x="2375728" y="457086"/>
                  </a:cubicBezTo>
                  <a:lnTo>
                    <a:pt x="13011" y="457086"/>
                  </a:lnTo>
                  <a:cubicBezTo>
                    <a:pt x="5825" y="457086"/>
                    <a:pt x="0" y="451260"/>
                    <a:pt x="0" y="444074"/>
                  </a:cubicBezTo>
                  <a:lnTo>
                    <a:pt x="0" y="13011"/>
                  </a:lnTo>
                  <a:cubicBezTo>
                    <a:pt x="0" y="5825"/>
                    <a:pt x="5825" y="0"/>
                    <a:pt x="13011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88739" cy="495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31315">
            <a:off x="4978893" y="583452"/>
            <a:ext cx="8330215" cy="1593989"/>
            <a:chOff x="0" y="0"/>
            <a:chExt cx="2388739" cy="4570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8739" cy="457086"/>
            </a:xfrm>
            <a:custGeom>
              <a:avLst/>
              <a:gdLst/>
              <a:ahLst/>
              <a:cxnLst/>
              <a:rect l="l" t="t" r="r" b="b"/>
              <a:pathLst>
                <a:path w="2388739" h="457086">
                  <a:moveTo>
                    <a:pt x="13011" y="0"/>
                  </a:moveTo>
                  <a:lnTo>
                    <a:pt x="2375728" y="0"/>
                  </a:lnTo>
                  <a:cubicBezTo>
                    <a:pt x="2382914" y="0"/>
                    <a:pt x="2388739" y="5825"/>
                    <a:pt x="2388739" y="13011"/>
                  </a:cubicBezTo>
                  <a:lnTo>
                    <a:pt x="2388739" y="444074"/>
                  </a:lnTo>
                  <a:cubicBezTo>
                    <a:pt x="2388739" y="451260"/>
                    <a:pt x="2382914" y="457086"/>
                    <a:pt x="2375728" y="457086"/>
                  </a:cubicBezTo>
                  <a:lnTo>
                    <a:pt x="13011" y="457086"/>
                  </a:lnTo>
                  <a:cubicBezTo>
                    <a:pt x="5825" y="457086"/>
                    <a:pt x="0" y="451260"/>
                    <a:pt x="0" y="444074"/>
                  </a:cubicBezTo>
                  <a:lnTo>
                    <a:pt x="0" y="13011"/>
                  </a:lnTo>
                  <a:cubicBezTo>
                    <a:pt x="0" y="5825"/>
                    <a:pt x="5825" y="0"/>
                    <a:pt x="13011" y="0"/>
                  </a:cubicBezTo>
                  <a:close/>
                </a:path>
              </a:pathLst>
            </a:custGeom>
            <a:solidFill>
              <a:srgbClr val="D4E84E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88739" cy="495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10069107">
            <a:off x="15044833" y="-411930"/>
            <a:ext cx="3102166" cy="3525189"/>
          </a:xfrm>
          <a:custGeom>
            <a:avLst/>
            <a:gdLst/>
            <a:ahLst/>
            <a:cxnLst/>
            <a:rect l="l" t="t" r="r" b="b"/>
            <a:pathLst>
              <a:path w="3102166" h="3525189">
                <a:moveTo>
                  <a:pt x="0" y="0"/>
                </a:moveTo>
                <a:lnTo>
                  <a:pt x="3102166" y="0"/>
                </a:lnTo>
                <a:lnTo>
                  <a:pt x="3102166" y="3525189"/>
                </a:lnTo>
                <a:lnTo>
                  <a:pt x="0" y="352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3535638" flipH="1">
            <a:off x="-146119" y="6538651"/>
            <a:ext cx="3167402" cy="3599320"/>
          </a:xfrm>
          <a:custGeom>
            <a:avLst/>
            <a:gdLst/>
            <a:ahLst/>
            <a:cxnLst/>
            <a:rect l="l" t="t" r="r" b="b"/>
            <a:pathLst>
              <a:path w="3167402" h="3599320">
                <a:moveTo>
                  <a:pt x="3167401" y="0"/>
                </a:moveTo>
                <a:lnTo>
                  <a:pt x="0" y="0"/>
                </a:lnTo>
                <a:lnTo>
                  <a:pt x="0" y="3599320"/>
                </a:lnTo>
                <a:lnTo>
                  <a:pt x="3167401" y="3599320"/>
                </a:lnTo>
                <a:lnTo>
                  <a:pt x="316740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707833" y="3037047"/>
            <a:ext cx="2280970" cy="2106453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V="1">
            <a:off x="14266294" y="6278338"/>
            <a:ext cx="2329622" cy="2478321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551813" y="2796549"/>
            <a:ext cx="10305205" cy="596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 spc="-114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Kết quả  đạt được:</a:t>
            </a:r>
          </a:p>
          <a:p>
            <a:pPr marL="669288" lvl="1" indent="-334644" algn="l">
              <a:lnSpc>
                <a:spcPts val="4339"/>
              </a:lnSpc>
              <a:buFont typeface="Arial"/>
              <a:buChar char="•"/>
            </a:pPr>
            <a:r>
              <a:rPr lang="en-US" sz="3099" spc="-11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Hoàn thành hệ thống học trực tuyến cơ bản gồm khóa học, unit và quiz.</a:t>
            </a:r>
          </a:p>
          <a:p>
            <a:pPr marL="669288" lvl="1" indent="-334644" algn="l">
              <a:lnSpc>
                <a:spcPts val="4339"/>
              </a:lnSpc>
              <a:buFont typeface="Arial"/>
              <a:buChar char="•"/>
            </a:pPr>
            <a:r>
              <a:rPr lang="en-US" sz="3099" spc="-11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Xây dựng đầy đủ các module theo yêu cầu.</a:t>
            </a:r>
          </a:p>
          <a:p>
            <a:pPr marL="669288" lvl="1" indent="-334644" algn="l">
              <a:lnSpc>
                <a:spcPts val="4339"/>
              </a:lnSpc>
              <a:buFont typeface="Arial"/>
              <a:buChar char="•"/>
            </a:pPr>
            <a:r>
              <a:rPr lang="en-US" sz="3099" spc="-11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Áp dụng thành công các công nghệ được giới thiệu.</a:t>
            </a:r>
          </a:p>
          <a:p>
            <a:pPr algn="l">
              <a:lnSpc>
                <a:spcPts val="4339"/>
              </a:lnSpc>
            </a:pPr>
            <a:r>
              <a:rPr lang="en-US" sz="3099" b="1" spc="-114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Hướng phát triển:</a:t>
            </a:r>
          </a:p>
          <a:p>
            <a:pPr marL="669288" lvl="1" indent="-334644" algn="l">
              <a:lnSpc>
                <a:spcPts val="4339"/>
              </a:lnSpc>
              <a:buFont typeface="Arial"/>
              <a:buChar char="•"/>
            </a:pPr>
            <a:r>
              <a:rPr lang="en-US" sz="3099" spc="-11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Thêm phần fashcard.</a:t>
            </a:r>
          </a:p>
          <a:p>
            <a:pPr marL="669288" lvl="1" indent="-334644" algn="l">
              <a:lnSpc>
                <a:spcPts val="4339"/>
              </a:lnSpc>
              <a:buFont typeface="Arial"/>
              <a:buChar char="•"/>
            </a:pPr>
            <a:r>
              <a:rPr lang="en-US" sz="3099" spc="-11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Thêm phần luyện nói.</a:t>
            </a:r>
          </a:p>
          <a:p>
            <a:pPr marL="669288" lvl="1" indent="-334644" algn="l">
              <a:lnSpc>
                <a:spcPts val="4339"/>
              </a:lnSpc>
              <a:buFont typeface="Arial"/>
              <a:buChar char="•"/>
            </a:pPr>
            <a:r>
              <a:rPr lang="en-US" sz="3099" spc="-11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Chat phần bình luận giải đáp thắc mắc cho từng bài giảng.</a:t>
            </a:r>
          </a:p>
          <a:p>
            <a:pPr marL="669288" lvl="1" indent="-334644" algn="l">
              <a:lnSpc>
                <a:spcPts val="4339"/>
              </a:lnSpc>
              <a:buFont typeface="Arial"/>
              <a:buChar char="•"/>
            </a:pPr>
            <a:r>
              <a:rPr lang="en-US" sz="3099" spc="-11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Chứng chỉ sau khóa học.</a:t>
            </a:r>
          </a:p>
        </p:txBody>
      </p:sp>
      <p:sp>
        <p:nvSpPr>
          <p:cNvPr id="13" name="TextBox 13"/>
          <p:cNvSpPr txBox="1"/>
          <p:nvPr/>
        </p:nvSpPr>
        <p:spPr>
          <a:xfrm rot="-131315">
            <a:off x="4874899" y="577910"/>
            <a:ext cx="8368414" cy="144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29"/>
              </a:lnSpc>
            </a:pPr>
            <a:r>
              <a:rPr lang="en-US" sz="8449" b="1" spc="-312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KẾT LUẬN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2272" y="587104"/>
            <a:ext cx="5318057" cy="4312460"/>
          </a:xfrm>
          <a:custGeom>
            <a:avLst/>
            <a:gdLst/>
            <a:ahLst/>
            <a:cxnLst/>
            <a:rect l="l" t="t" r="r" b="b"/>
            <a:pathLst>
              <a:path w="5318057" h="4312460">
                <a:moveTo>
                  <a:pt x="0" y="0"/>
                </a:moveTo>
                <a:lnTo>
                  <a:pt x="5318056" y="0"/>
                </a:lnTo>
                <a:lnTo>
                  <a:pt x="5318056" y="4312461"/>
                </a:lnTo>
                <a:lnTo>
                  <a:pt x="0" y="43124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31315">
            <a:off x="3786553" y="3728012"/>
            <a:ext cx="10894719" cy="2343106"/>
            <a:chOff x="0" y="0"/>
            <a:chExt cx="2125308" cy="4570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25308" cy="457086"/>
            </a:xfrm>
            <a:custGeom>
              <a:avLst/>
              <a:gdLst/>
              <a:ahLst/>
              <a:cxnLst/>
              <a:rect l="l" t="t" r="r" b="b"/>
              <a:pathLst>
                <a:path w="2125308" h="457086">
                  <a:moveTo>
                    <a:pt x="9949" y="0"/>
                  </a:moveTo>
                  <a:lnTo>
                    <a:pt x="2115359" y="0"/>
                  </a:lnTo>
                  <a:cubicBezTo>
                    <a:pt x="2117998" y="0"/>
                    <a:pt x="2120528" y="1048"/>
                    <a:pt x="2122394" y="2914"/>
                  </a:cubicBezTo>
                  <a:cubicBezTo>
                    <a:pt x="2124259" y="4780"/>
                    <a:pt x="2125308" y="7310"/>
                    <a:pt x="2125308" y="9949"/>
                  </a:cubicBezTo>
                  <a:lnTo>
                    <a:pt x="2125308" y="447137"/>
                  </a:lnTo>
                  <a:cubicBezTo>
                    <a:pt x="2125308" y="452632"/>
                    <a:pt x="2120853" y="457086"/>
                    <a:pt x="2115359" y="457086"/>
                  </a:cubicBezTo>
                  <a:lnTo>
                    <a:pt x="9949" y="457086"/>
                  </a:lnTo>
                  <a:cubicBezTo>
                    <a:pt x="4454" y="457086"/>
                    <a:pt x="0" y="452632"/>
                    <a:pt x="0" y="447137"/>
                  </a:cubicBezTo>
                  <a:lnTo>
                    <a:pt x="0" y="9949"/>
                  </a:lnTo>
                  <a:cubicBezTo>
                    <a:pt x="0" y="4454"/>
                    <a:pt x="4454" y="0"/>
                    <a:pt x="9949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25308" cy="495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31315">
            <a:off x="3606729" y="3530263"/>
            <a:ext cx="10894719" cy="2343106"/>
            <a:chOff x="0" y="0"/>
            <a:chExt cx="2125308" cy="4570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25308" cy="457086"/>
            </a:xfrm>
            <a:custGeom>
              <a:avLst/>
              <a:gdLst/>
              <a:ahLst/>
              <a:cxnLst/>
              <a:rect l="l" t="t" r="r" b="b"/>
              <a:pathLst>
                <a:path w="2125308" h="457086">
                  <a:moveTo>
                    <a:pt x="9949" y="0"/>
                  </a:moveTo>
                  <a:lnTo>
                    <a:pt x="2115359" y="0"/>
                  </a:lnTo>
                  <a:cubicBezTo>
                    <a:pt x="2117998" y="0"/>
                    <a:pt x="2120528" y="1048"/>
                    <a:pt x="2122394" y="2914"/>
                  </a:cubicBezTo>
                  <a:cubicBezTo>
                    <a:pt x="2124259" y="4780"/>
                    <a:pt x="2125308" y="7310"/>
                    <a:pt x="2125308" y="9949"/>
                  </a:cubicBezTo>
                  <a:lnTo>
                    <a:pt x="2125308" y="447137"/>
                  </a:lnTo>
                  <a:cubicBezTo>
                    <a:pt x="2125308" y="452632"/>
                    <a:pt x="2120853" y="457086"/>
                    <a:pt x="2115359" y="457086"/>
                  </a:cubicBezTo>
                  <a:lnTo>
                    <a:pt x="9949" y="457086"/>
                  </a:lnTo>
                  <a:cubicBezTo>
                    <a:pt x="4454" y="457086"/>
                    <a:pt x="0" y="452632"/>
                    <a:pt x="0" y="447137"/>
                  </a:cubicBezTo>
                  <a:lnTo>
                    <a:pt x="0" y="9949"/>
                  </a:lnTo>
                  <a:cubicBezTo>
                    <a:pt x="0" y="4454"/>
                    <a:pt x="4454" y="0"/>
                    <a:pt x="9949" y="0"/>
                  </a:cubicBezTo>
                  <a:close/>
                </a:path>
              </a:pathLst>
            </a:custGeom>
            <a:solidFill>
              <a:srgbClr val="D4E84E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25308" cy="495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70459" y="6278291"/>
            <a:ext cx="3591755" cy="4571962"/>
          </a:xfrm>
          <a:custGeom>
            <a:avLst/>
            <a:gdLst/>
            <a:ahLst/>
            <a:cxnLst/>
            <a:rect l="l" t="t" r="r" b="b"/>
            <a:pathLst>
              <a:path w="3591755" h="4571962">
                <a:moveTo>
                  <a:pt x="0" y="0"/>
                </a:moveTo>
                <a:lnTo>
                  <a:pt x="3591755" y="0"/>
                </a:lnTo>
                <a:lnTo>
                  <a:pt x="3591755" y="4571962"/>
                </a:lnTo>
                <a:lnTo>
                  <a:pt x="0" y="4571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157284" y="-711473"/>
            <a:ext cx="7130716" cy="4563658"/>
          </a:xfrm>
          <a:custGeom>
            <a:avLst/>
            <a:gdLst/>
            <a:ahLst/>
            <a:cxnLst/>
            <a:rect l="l" t="t" r="r" b="b"/>
            <a:pathLst>
              <a:path w="7130716" h="4563658">
                <a:moveTo>
                  <a:pt x="0" y="0"/>
                </a:moveTo>
                <a:lnTo>
                  <a:pt x="7130716" y="0"/>
                </a:lnTo>
                <a:lnTo>
                  <a:pt x="7130716" y="4563658"/>
                </a:lnTo>
                <a:lnTo>
                  <a:pt x="0" y="4563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 rot="-131315">
            <a:off x="3666312" y="3500777"/>
            <a:ext cx="10946647" cy="211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9"/>
              </a:lnSpc>
            </a:pPr>
            <a:r>
              <a:rPr lang="en-US" sz="12421" b="1" spc="-459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  <p:sp>
        <p:nvSpPr>
          <p:cNvPr id="12" name="Freeform 12"/>
          <p:cNvSpPr/>
          <p:nvPr/>
        </p:nvSpPr>
        <p:spPr>
          <a:xfrm rot="-115502" flipH="1">
            <a:off x="10177006" y="6290968"/>
            <a:ext cx="769708" cy="889368"/>
          </a:xfrm>
          <a:custGeom>
            <a:avLst/>
            <a:gdLst/>
            <a:ahLst/>
            <a:cxnLst/>
            <a:rect l="l" t="t" r="r" b="b"/>
            <a:pathLst>
              <a:path w="769708" h="889368">
                <a:moveTo>
                  <a:pt x="769707" y="0"/>
                </a:moveTo>
                <a:lnTo>
                  <a:pt x="0" y="0"/>
                </a:lnTo>
                <a:lnTo>
                  <a:pt x="0" y="889368"/>
                </a:lnTo>
                <a:lnTo>
                  <a:pt x="769707" y="889368"/>
                </a:lnTo>
                <a:lnTo>
                  <a:pt x="76970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926905" y="1218175"/>
            <a:ext cx="966180" cy="1116384"/>
          </a:xfrm>
          <a:custGeom>
            <a:avLst/>
            <a:gdLst/>
            <a:ahLst/>
            <a:cxnLst/>
            <a:rect l="l" t="t" r="r" b="b"/>
            <a:pathLst>
              <a:path w="966180" h="1116384">
                <a:moveTo>
                  <a:pt x="966180" y="0"/>
                </a:moveTo>
                <a:lnTo>
                  <a:pt x="0" y="0"/>
                </a:lnTo>
                <a:lnTo>
                  <a:pt x="0" y="1116384"/>
                </a:lnTo>
                <a:lnTo>
                  <a:pt x="966180" y="1116384"/>
                </a:lnTo>
                <a:lnTo>
                  <a:pt x="96618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120993">
            <a:off x="14628159" y="6392150"/>
            <a:ext cx="4384815" cy="4982744"/>
          </a:xfrm>
          <a:custGeom>
            <a:avLst/>
            <a:gdLst/>
            <a:ahLst/>
            <a:cxnLst/>
            <a:rect l="l" t="t" r="r" b="b"/>
            <a:pathLst>
              <a:path w="4384815" h="4982744">
                <a:moveTo>
                  <a:pt x="0" y="0"/>
                </a:moveTo>
                <a:lnTo>
                  <a:pt x="4384815" y="0"/>
                </a:lnTo>
                <a:lnTo>
                  <a:pt x="4384815" y="4982744"/>
                </a:lnTo>
                <a:lnTo>
                  <a:pt x="0" y="49827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8877779">
            <a:off x="-1738158" y="5413206"/>
            <a:ext cx="3980860" cy="4523704"/>
          </a:xfrm>
          <a:custGeom>
            <a:avLst/>
            <a:gdLst/>
            <a:ahLst/>
            <a:cxnLst/>
            <a:rect l="l" t="t" r="r" b="b"/>
            <a:pathLst>
              <a:path w="3980860" h="4523704">
                <a:moveTo>
                  <a:pt x="0" y="0"/>
                </a:moveTo>
                <a:lnTo>
                  <a:pt x="3980860" y="0"/>
                </a:lnTo>
                <a:lnTo>
                  <a:pt x="3980860" y="4523704"/>
                </a:lnTo>
                <a:lnTo>
                  <a:pt x="0" y="4523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0" y="1882955"/>
          <a:ext cx="18288000" cy="8540659"/>
        </p:xfrm>
        <a:graphic>
          <a:graphicData uri="http://schemas.openxmlformats.org/drawingml/2006/table">
            <a:tbl>
              <a:tblPr/>
              <a:tblGrid>
                <a:gridCol w="4120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3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9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1148">
                <a:tc>
                  <a:txBody>
                    <a:bodyPr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MSSV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HỌ VÀ TÊN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 b="1" dirty="0" err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NHIỆM</a:t>
                      </a:r>
                      <a:r>
                        <a:rPr lang="en-US" sz="3300" b="1" dirty="0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 </a:t>
                      </a:r>
                      <a:r>
                        <a:rPr lang="en-US" sz="3300" b="1" dirty="0" err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VỤ</a:t>
                      </a:r>
                      <a:r>
                        <a:rPr lang="en-US" sz="3300" b="1" dirty="0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ĐÓNG GÓP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5528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064206000321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Dương Minh Nhân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Quản lý dự án, viết đặc tả yều cầu hệ thống, thiết kế Data model, thiết kế sơ đồ Usecase, Backend 4: Logic cập nhật tiến trình khóa học và unit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2069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072306003845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Lâm Thị Yến Nhi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Backend 3: Logic </a:t>
                      </a:r>
                      <a:r>
                        <a:rPr lang="en-US" sz="2300" dirty="0" err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bài</a:t>
                      </a:r>
                      <a:r>
                        <a:rPr lang="en-US" sz="23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tập</a:t>
                      </a:r>
                      <a:r>
                        <a:rPr lang="en-US" sz="23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trắc</a:t>
                      </a:r>
                      <a:r>
                        <a:rPr lang="en-US" sz="23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nghiệm</a:t>
                      </a:r>
                      <a:r>
                        <a:rPr lang="en-US" sz="23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làm</a:t>
                      </a:r>
                      <a:r>
                        <a:rPr lang="en-US" sz="23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slide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5707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060306004265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Võ Trần Gia Phụng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Backend 1: Logic xác thực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2069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036205015677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Nguyễn Tuấn Anh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Frontend 2: Giao diện các trang Xác thực &amp; Quản lý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2069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067306001136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Nguyễn Ngọc Tú Trân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Frontend 1: Giao diện các trang Người dùng &amp; Học Tập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2069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056206000232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Trương Thái Tiến Đạt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Backend2: Logic nội dung khóa học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13%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5647524" y="545782"/>
            <a:ext cx="7611276" cy="870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 spc="-188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ĐÁNH</a:t>
            </a:r>
            <a:r>
              <a:rPr lang="en-US" sz="5099" b="1" spc="-188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099" b="1" spc="-188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GIÁ</a:t>
            </a:r>
            <a:r>
              <a:rPr lang="en-US" sz="5099" b="1" spc="-188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THÀNH VIÊN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1232</Words>
  <Application>Microsoft Office PowerPoint</Application>
  <PresentationFormat>Custom</PresentationFormat>
  <Paragraphs>116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Montserrat</vt:lpstr>
      <vt:lpstr>Montserrat Bold</vt:lpstr>
      <vt:lpstr>Arial</vt:lpstr>
      <vt:lpstr>Montserrat Ultra-Bold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</dc:title>
  <dc:creator>Duong Minh Nhan</dc:creator>
  <cp:lastModifiedBy>Duong Minh Nhan</cp:lastModifiedBy>
  <cp:revision>4</cp:revision>
  <dcterms:created xsi:type="dcterms:W3CDTF">2006-08-16T00:00:00Z</dcterms:created>
  <dcterms:modified xsi:type="dcterms:W3CDTF">2026-07-15T03:00:02Z</dcterms:modified>
  <dc:identifier>DAHNq3VqVvM</dc:identifier>
</cp:coreProperties>
</file>